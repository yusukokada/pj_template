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9" r:id="rId4"/>
    <p:sldMasterId id="2147484071" r:id="rId5"/>
  </p:sldMasterIdLst>
  <p:notesMasterIdLst>
    <p:notesMasterId r:id="rId12"/>
  </p:notesMasterIdLst>
  <p:handoutMasterIdLst>
    <p:handoutMasterId r:id="rId13"/>
  </p:handoutMasterIdLst>
  <p:sldIdLst>
    <p:sldId id="256" r:id="rId11"/>
    <p:sldId id="257" r:id="rId10"/>
    <p:sldId id="258" r:id="rId9"/>
    <p:sldId id="259" r:id="rId8"/>
    <p:sldId id="260" r:id="rId7"/>
    <p:sldId id="261" r:id="rId6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</p:sldIdLst>
  <p:sldSz cx="12192000" cy="6858000"/>
  <p:notesSz cx="6735763" cy="9866313"/>
  <p:custDataLst>
    <p:tags r:id="rId1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3" orient="horz" pos="234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34F904-F128-8147-A709-5BA0B0EDD907}" name="Kato, Yoshiko 1" initials="K1" userId="S::yoshiko1.kato@tohmatsu.co.jp::0536b235-f5eb-4716-8d5f-c14ea1117cc8" providerId="AD"/>
  <p188:author id="{85B9C713-2719-418F-0DB1-FD33C6FBAE59}" name="Mori, Yukiko" initials="MY" userId="S::yukiko.mori@tohmatsu.co.jp::f6c28165-7909-45e9-8c53-3daca56a9b1c" providerId="AD"/>
  <p188:author id="{1E114F58-398E-C9D2-8536-99ABF1D54C77}" name="DLS" initials="u" userId="DLS" providerId="None"/>
  <p188:author id="{5FF94BAC-1D89-45C0-351C-0BB77D8448C6}" name="Fukushima, Rieko" initials="FR" userId="S::rieko.fukushima@tohmatsu.co.jp::42ea695b-0072-4304-903b-cd25183e2212" providerId="AD"/>
  <p188:author id="{668514CC-2331-AEE1-14A9-653540C09CE5}" name="Ochi, Hana" initials="OH" userId="S::haochi@tohmatsu.co.jp::9fa41629-42c7-428e-8d4f-8f774cfc7829" providerId="AD"/>
  <p188:author id="{13294DE8-2855-A6AB-C18D-388B7D0CEDFC}" name="Tensaka, Masaru" initials="MT" userId="S::masaru.tensaka@tohmatsu.co.jp::6e40b7d5-af48-4bf6-88f1-4c8da298729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hima, Michiru" initials="TM" lastIdx="16" clrIdx="0">
    <p:extLst>
      <p:ext uri="{19B8F6BF-5375-455C-9EA6-DF929625EA0E}">
        <p15:presenceInfo xmlns:p15="http://schemas.microsoft.com/office/powerpoint/2012/main" userId="S::miteshima@tohmatsu.co.jp::4ce32794-bca9-4413-b02a-c3d46948b2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CB0"/>
    <a:srgbClr val="CBD4CE"/>
    <a:srgbClr val="E7E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701" autoAdjust="0"/>
  </p:normalViewPr>
  <p:slideViewPr>
    <p:cSldViewPr snapToGrid="0">
      <p:cViewPr varScale="1">
        <p:scale>
          <a:sx n="120" d="100"/>
          <a:sy n="120" d="100"/>
        </p:scale>
        <p:origin x="114" y="468"/>
      </p:cViewPr>
      <p:guideLst>
        <p:guide orient="horz" pos="234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tags" Target="tags/tag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8/10/relationships/authors" Target="authors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jii, Takahiro 2" userId="945e9c86-5456-4634-adda-eef41564cfeb" providerId="ADAL" clId="{5042B2A2-FFDD-4CE4-BE17-560BA2A6817A}"/>
    <pc:docChg chg="delSld">
      <pc:chgData name="Fujii, Takahiro 2" userId="945e9c86-5456-4634-adda-eef41564cfeb" providerId="ADAL" clId="{5042B2A2-FFDD-4CE4-BE17-560BA2A6817A}" dt="2026-08-18T00:28:02.727" v="1" actId="47"/>
      <pc:docMkLst>
        <pc:docMk/>
      </pc:docMkLst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3452911781" sldId="261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661143910" sldId="301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1748154795" sldId="308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812845549" sldId="310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278534321" sldId="311"/>
        </pc:sldMkLst>
      </pc:sldChg>
      <pc:sldChg chg="del">
        <pc:chgData name="Fujii, Takahiro 2" userId="945e9c86-5456-4634-adda-eef41564cfeb" providerId="ADAL" clId="{5042B2A2-FFDD-4CE4-BE17-560BA2A6817A}" dt="2026-08-18T00:28:02.727" v="1" actId="47"/>
        <pc:sldMkLst>
          <pc:docMk/>
          <pc:sldMk cId="3131995809" sldId="2147309472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2114358470" sldId="2147479121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3221249717" sldId="2147479129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377582717" sldId="2147479130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2863879515" sldId="2147479141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3072902564" sldId="2147479143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1967432707" sldId="2147479146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355410148" sldId="2147479147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3107237478" sldId="2147479148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2048993135" sldId="2147479150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3652218945" sldId="2147479151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3001544900" sldId="2147482668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3462100929" sldId="2147482691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2745516820" sldId="2147482692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1820231873" sldId="2147482693"/>
        </pc:sldMkLst>
      </pc:sldChg>
      <pc:sldChg chg="del">
        <pc:chgData name="Fujii, Takahiro 2" userId="945e9c86-5456-4634-adda-eef41564cfeb" providerId="ADAL" clId="{5042B2A2-FFDD-4CE4-BE17-560BA2A6817A}" dt="2026-08-18T00:03:01.995" v="0" actId="47"/>
        <pc:sldMkLst>
          <pc:docMk/>
          <pc:sldMk cId="1862238367" sldId="214748269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C3375-25C1-4132-8356-F0254E04DDEC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172F-6366-47B3-B3D8-F99B8E17C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479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AAE2C4BB-DD5D-4EF0-8811-528209874544}" type="datetimeFigureOut">
              <a:rPr kumimoji="1" lang="ja-JP" altLang="en-US" smtClean="0">
                <a:latin typeface="Aptos" panose="020B0004020202020204" pitchFamily="34" charset="0"/>
              </a:rPr>
              <a:pPr/>
              <a:t>2026/8/28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>
              <a:latin typeface="Aptos" panose="020B0004020202020204" pitchFamily="34" charset="0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24DE13BB-FCB6-4491-A87D-1E9BA7500F8E}" type="slidenum">
              <a:rPr kumimoji="1" lang="ja-JP" altLang="en-US" smtClean="0">
                <a:latin typeface="Aptos" panose="020B0004020202020204" pitchFamily="34" charset="0"/>
              </a:rPr>
              <a:pPr/>
              <a:t>‹#›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6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6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.emf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jpeg"/><Relationship Id="rId8" Type="http://schemas.openxmlformats.org/officeDocument/2006/relationships/image" Target="../media/image1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2.emf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1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2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2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8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6617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5334857" y="0"/>
            <a:ext cx="6857143" cy="685714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4975200"/>
            <a:ext cx="6300000" cy="864000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943600"/>
            <a:ext cx="6300000" cy="25200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78799" y="63396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社名・日付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3547F802-58B1-47FA-8670-C744D73FAC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7200" y="396000"/>
            <a:ext cx="5616000" cy="676800"/>
          </a:xfrm>
        </p:spPr>
        <p:txBody>
          <a:bodyPr/>
          <a:lstStyle>
            <a:lvl1pPr algn="r">
              <a:spcBef>
                <a:spcPts val="0"/>
              </a:spcBef>
              <a:defRPr baseline="0"/>
            </a:lvl1pPr>
          </a:lstStyle>
          <a:p>
            <a:pPr lvl="0"/>
            <a:r>
              <a:rPr kumimoji="1" lang="ja-JP" altLang="en-US"/>
              <a:t>クライアント名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>
            <a:noAutofit/>
          </a:bodyPr>
          <a:lstStyle>
            <a:lvl1pPr>
              <a:defRPr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2547279-FA67-C974-7DBE-02274F76DF4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3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6730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5334857" y="0"/>
            <a:ext cx="6857143" cy="685714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4975200"/>
            <a:ext cx="6300000" cy="864000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943600"/>
            <a:ext cx="6300000" cy="25200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78799" y="63396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社名・日付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>
            <a:noAutofit/>
          </a:bodyPr>
          <a:lstStyle>
            <a:lvl1pPr>
              <a:defRPr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378593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タイトル_タグライン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0139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5334000" y="0"/>
            <a:ext cx="6858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pic>
        <p:nvPicPr>
          <p:cNvPr id="7" name="図 6" descr="テキスト&#10;&#10;自動的に生成された説明">
            <a:extLst>
              <a:ext uri="{FF2B5EF4-FFF2-40B4-BE49-F238E27FC236}">
                <a16:creationId xmlns:a16="http://schemas.microsoft.com/office/drawing/2014/main" id="{6BC6631A-55F1-9E4D-3789-7DA5FCD104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800" y="432000"/>
            <a:ext cx="2259270" cy="975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4975200"/>
            <a:ext cx="6300000" cy="864000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943600"/>
            <a:ext cx="6300000" cy="28800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78800" y="63396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社名・日付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B130D491-8E76-D6CB-A593-1A021A0406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7200" y="396000"/>
            <a:ext cx="5616000" cy="676800"/>
          </a:xfrm>
        </p:spPr>
        <p:txBody>
          <a:bodyPr/>
          <a:lstStyle>
            <a:lvl1pPr algn="r">
              <a:spcBef>
                <a:spcPts val="0"/>
              </a:spcBef>
              <a:defRPr baseline="0"/>
            </a:lvl1pPr>
          </a:lstStyle>
          <a:p>
            <a:pPr lvl="0"/>
            <a:r>
              <a:rPr kumimoji="1" lang="ja-JP" altLang="en-US"/>
              <a:t>クライアント名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469019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タイトル_ ロゴ入り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3019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5334000" y="0"/>
            <a:ext cx="6858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4975200"/>
            <a:ext cx="6300000" cy="864000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943600"/>
            <a:ext cx="6300000" cy="28800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78800" y="63396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社名・日付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792FD3A5-C4CB-57FE-D7AA-C72BE7B9F5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7200" y="396000"/>
            <a:ext cx="5616000" cy="676800"/>
          </a:xfrm>
        </p:spPr>
        <p:txBody>
          <a:bodyPr/>
          <a:lstStyle>
            <a:lvl1pPr algn="r">
              <a:spcBef>
                <a:spcPts val="0"/>
              </a:spcBef>
              <a:defRPr baseline="0"/>
            </a:lvl1pPr>
          </a:lstStyle>
          <a:p>
            <a:pPr lvl="0"/>
            <a:r>
              <a:rPr kumimoji="1" lang="ja-JP" altLang="en-US"/>
              <a:t>クライアント名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3E2FBA1-AB03-4C25-6FCB-88919F7414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9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タイトル ロゴ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1521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5334000" y="0"/>
            <a:ext cx="6858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4975200"/>
            <a:ext cx="6300000" cy="864000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943600"/>
            <a:ext cx="6300000" cy="28800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78800" y="63396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社名・日付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2596186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28196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123421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E601D56-04BF-43AA-5417-C8D6479806C2}"/>
              </a:ext>
            </a:extLst>
          </p:cNvPr>
          <p:cNvSpPr/>
          <p:nvPr userDrawn="1"/>
        </p:nvSpPr>
        <p:spPr bwMode="gray">
          <a:xfrm flipH="1">
            <a:off x="330058" y="432000"/>
            <a:ext cx="45719" cy="41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67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787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24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1" fontAlgn="base" hangingPunct="1">
              <a:spcBef>
                <a:spcPts val="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69414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 Dot_中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963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25" imgH="425" progId="TCLayout.ActiveDocument.1">
                  <p:embed/>
                </p:oleObj>
              </mc:Choice>
              <mc:Fallback>
                <p:oleObj name="think-cellスライド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2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0EADE403-9055-B75E-0CA0-96D87B9951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6AC073C-6314-F089-B814-9C38B071CB9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79424" y="3098800"/>
            <a:ext cx="11233151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フッター プレースホルダ 8">
            <a:extLst>
              <a:ext uri="{FF2B5EF4-FFF2-40B4-BE49-F238E27FC236}">
                <a16:creationId xmlns:a16="http://schemas.microsoft.com/office/drawing/2014/main" id="{0EF011EB-9F3D-746C-28C2-6DC89CDA9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6" name="スライド番号プレースホルダ 9">
            <a:extLst>
              <a:ext uri="{FF2B5EF4-FFF2-40B4-BE49-F238E27FC236}">
                <a16:creationId xmlns:a16="http://schemas.microsoft.com/office/drawing/2014/main" id="{8AD94D53-9FC0-CB8A-05AB-FDB9EA9ED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371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（基本版） Glow_中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6256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25" imgH="425" progId="TCLayout.ActiveDocument.1">
                  <p:embed/>
                </p:oleObj>
              </mc:Choice>
              <mc:Fallback>
                <p:oleObj name="think-cellスライド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9528D2FE-5881-99FF-600D-FFD70C40E29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80000" y="3098800"/>
            <a:ext cx="1123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12" name="フッター プレースホルダ 8">
            <a:extLst>
              <a:ext uri="{FF2B5EF4-FFF2-40B4-BE49-F238E27FC236}">
                <a16:creationId xmlns:a16="http://schemas.microsoft.com/office/drawing/2014/main" id="{560FF4DA-1E33-A658-869B-D3FF36FD4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9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13" name="スライド番号プレースホルダ 9">
            <a:extLst>
              <a:ext uri="{FF2B5EF4-FFF2-40B4-BE49-F238E27FC236}">
                <a16:creationId xmlns:a16="http://schemas.microsoft.com/office/drawing/2014/main" id="{3B87FB24-2A19-51FE-6658-453F5C73F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algn="r">
              <a:defRPr sz="9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4" name="Text Box 37">
            <a:extLst>
              <a:ext uri="{FF2B5EF4-FFF2-40B4-BE49-F238E27FC236}">
                <a16:creationId xmlns:a16="http://schemas.microsoft.com/office/drawing/2014/main" id="{6420742E-5E75-455C-8798-542A73ABB0BB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1" fontAlgn="base" hangingPunct="1">
              <a:spcBef>
                <a:spcPts val="0"/>
              </a:spcBef>
              <a:spcAft>
                <a:spcPct val="0"/>
              </a:spcAft>
            </a:pPr>
            <a:r>
              <a:rPr lang="en-US" altLang="ja-JP"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686752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Pale Green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1681200"/>
            <a:ext cx="10693775" cy="1620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95517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Deloitte Green_中表紙_16: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1681200"/>
            <a:ext cx="10693775" cy="1620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79587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Pale_Deloitte Green_中表紙_16:9">
    <p:bg>
      <p:bgPr>
        <a:gradFill>
          <a:gsLst>
            <a:gs pos="100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1681200"/>
            <a:ext cx="10693775" cy="1620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84658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Deep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1681200"/>
            <a:ext cx="10693775" cy="1620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2483868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Mid Green_中表紙_16:9">
    <p:bg>
      <p:bgPr>
        <a:gradFill>
          <a:gsLst>
            <a:gs pos="100000">
              <a:schemeClr val="accent2">
                <a:lumMod val="60000"/>
                <a:lumOff val="40000"/>
              </a:schemeClr>
            </a:gs>
            <a:gs pos="28000">
              <a:schemeClr val="accent2">
                <a:lumMod val="65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1681200"/>
            <a:ext cx="10693775" cy="1620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243119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中表紙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1681200"/>
            <a:ext cx="10693775" cy="1620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63511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白_中表紙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1681200"/>
            <a:ext cx="10693775" cy="1620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64723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4467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32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9664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47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54051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 vert="horz" lIns="0" tIns="0" rIns="0" bIns="0" rtlCol="0">
            <a:noAutofit/>
          </a:bodyPr>
          <a:lstStyle>
            <a:lvl1pPr>
              <a:defRPr lang="ja-JP" altLang="en-US" dirty="0" smtClean="0"/>
            </a:lvl1pPr>
            <a:lvl2pPr>
              <a:defRPr lang="ja-JP" altLang="en-US" dirty="0" smtClean="0"/>
            </a:lvl2pPr>
            <a:lvl3pPr>
              <a:defRPr lang="ja-JP" altLang="en-US" dirty="0" smtClean="0"/>
            </a:lvl3pPr>
            <a:lvl4pPr>
              <a:defRPr lang="ja-JP" altLang="en-US" dirty="0" smtClean="0"/>
            </a:lvl4pPr>
            <a:lvl5pPr>
              <a:defRPr lang="ja-JP" altLang="en-US" dirty="0"/>
            </a:lvl5pPr>
          </a:lstStyle>
          <a:p>
            <a:pPr marR="0" lvl="0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マスター テキストの書式設定</a:t>
            </a:r>
          </a:p>
          <a:p>
            <a:pPr marR="0" lvl="1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marR="0" lvl="2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marR="0" lvl="3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marR="0" lvl="4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 vert="horz" lIns="0" tIns="0" rIns="0" bIns="0" rtlCol="0">
            <a:noAutofit/>
          </a:bodyPr>
          <a:lstStyle>
            <a:lvl1pPr>
              <a:defRPr lang="ja-JP" altLang="en-US" dirty="0" smtClean="0"/>
            </a:lvl1pPr>
            <a:lvl2pPr>
              <a:defRPr lang="ja-JP" altLang="en-US" dirty="0" smtClean="0"/>
            </a:lvl2pPr>
            <a:lvl3pPr>
              <a:defRPr lang="ja-JP" altLang="en-US" dirty="0" smtClean="0"/>
            </a:lvl3pPr>
            <a:lvl4pPr>
              <a:defRPr lang="ja-JP" altLang="en-US" dirty="0" smtClean="0"/>
            </a:lvl4pPr>
            <a:lvl5pPr>
              <a:defRPr lang="ja-JP" altLang="en-US" dirty="0"/>
            </a:lvl5pPr>
          </a:lstStyle>
          <a:p>
            <a:pPr marR="0" lvl="0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マスター テキストの書式設定</a:t>
            </a:r>
          </a:p>
          <a:p>
            <a:pPr marR="0" lvl="1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marR="0" lvl="2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marR="0" lvl="3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marR="0" lvl="4" defTabSz="990564" fontAlgn="auto">
              <a:buClrTx/>
              <a:buFont typeface="Arial" panose="020B0604020202020204" pitchFamily="34" charset="0"/>
              <a:tabLst/>
            </a:pPr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12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59713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ja-JP" altLang="en-US" baseline="0" smtClean="0"/>
            </a:lvl1pPr>
            <a:lvl2pPr>
              <a:defRPr lang="ja-JP" altLang="en-US" baseline="0" smtClean="0"/>
            </a:lvl2pPr>
            <a:lvl3pPr>
              <a:defRPr lang="ja-JP" altLang="en-US" baseline="0" smtClean="0"/>
            </a:lvl3pPr>
            <a:lvl4pPr>
              <a:defRPr lang="ja-JP" altLang="en-US" smtClean="0"/>
            </a:lvl4pPr>
          </a:lstStyle>
          <a:p>
            <a:pPr marR="0" lvl="0" defTabSz="990564" fontAlgn="auto">
              <a:buClrTx/>
              <a:buFont typeface="Arial" panose="020B0604020202020204" pitchFamily="34" charset="0"/>
              <a:tabLst/>
            </a:pPr>
            <a:r>
              <a:rPr lang="ja-JP" altLang="en-US"/>
              <a:t>マスター テキストの書式設定</a:t>
            </a:r>
          </a:p>
          <a:p>
            <a:pPr marR="0" lvl="1" defTabSz="990564" fontAlgn="auto">
              <a:buClrTx/>
              <a:buFont typeface="Arial" panose="020B0604020202020204" pitchFamily="34" charset="0"/>
              <a:tabLst/>
            </a:pPr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R="0" lvl="2" defTabSz="990564" fontAlgn="auto">
              <a:buClrTx/>
              <a:buFont typeface="Arial" panose="020B0604020202020204" pitchFamily="34" charset="0"/>
              <a:tabLst/>
            </a:pPr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R="0" lvl="3" defTabSz="990564" fontAlgn="auto">
              <a:buClrTx/>
              <a:buFont typeface="Arial" panose="020B0604020202020204" pitchFamily="34" charset="0"/>
              <a:tabLst/>
            </a:pPr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squar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11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46368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  <a:noFill/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991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5490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285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290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4" y="1483200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marL="936000" indent="-2520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3200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marL="936000" indent="-2520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581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5887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squar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54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3868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  <p:pic>
        <p:nvPicPr>
          <p:cNvPr id="5" name="Picture 3">
            <a:extLst>
              <a:ext uri="{FF2B5EF4-FFF2-40B4-BE49-F238E27FC236}">
                <a16:creationId xmlns:a16="http://schemas.microsoft.com/office/drawing/2014/main" id="{68101465-63EE-D2BF-35AA-692852B492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4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665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AA5F3BE-2C73-21B4-1792-CE7804C909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553D118-33B9-8047-F5CF-3B03F130350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6" name="図 5" descr="ロゴ, 会社名&#10;&#10;自動的に生成された説明">
              <a:extLst>
                <a:ext uri="{FF2B5EF4-FFF2-40B4-BE49-F238E27FC236}">
                  <a16:creationId xmlns:a16="http://schemas.microsoft.com/office/drawing/2014/main" id="{D2C433B9-83A5-C204-17F5-89F2B1D6A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7" name="図 6" descr="ロゴ&#10;&#10;自動的に生成された説明">
              <a:extLst>
                <a:ext uri="{FF2B5EF4-FFF2-40B4-BE49-F238E27FC236}">
                  <a16:creationId xmlns:a16="http://schemas.microsoft.com/office/drawing/2014/main" id="{7E3E8DC4-DA86-93F3-32DB-DBD7E5E7F1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924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467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B58FE27E-7473-91AD-522F-C6EE7B389FF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19903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66F5FD9-1E58-CDA7-CACE-B242EB6B204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5" name="図 4" descr="ロゴ, 会社名&#10;&#10;自動的に生成された説明">
              <a:extLst>
                <a:ext uri="{FF2B5EF4-FFF2-40B4-BE49-F238E27FC236}">
                  <a16:creationId xmlns:a16="http://schemas.microsoft.com/office/drawing/2014/main" id="{D73EDECA-A512-7669-1691-62C5E111EA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17480D25-DAE4-135D-514C-ADF811A79B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7" name="Picture 3">
            <a:extLst>
              <a:ext uri="{FF2B5EF4-FFF2-40B4-BE49-F238E27FC236}">
                <a16:creationId xmlns:a16="http://schemas.microsoft.com/office/drawing/2014/main" id="{7114BB36-8EE5-0472-5190-1AC8C392D5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31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 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4135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  <a:noFill/>
        </p:spPr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>
          <a:noFill/>
        </p:spPr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  <a:noFill/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  <a:noFill/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  <a:noFill/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lang="ja-JP" altLang="en-US" sz="2400" b="1" baseline="0" dirty="0">
                <a:latin typeface="+mj-lt"/>
                <a:ea typeface="+mj-ea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69150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25181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lang="ja-JP" altLang="en-US" sz="2400" b="1" baseline="0" dirty="0">
                <a:latin typeface="+mj-lt"/>
                <a:ea typeface="+mj-ea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1082097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小見出しあり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6461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fontAlgn="auto" hangingPunct="1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  <a:noFill/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lang="ja-JP" altLang="en-US" sz="2400" b="1" baseline="0" dirty="0">
                <a:latin typeface="+mj-lt"/>
                <a:ea typeface="+mj-ea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415057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74819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  <a:noFill/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lang="ja-JP" altLang="en-US" sz="2400" b="1" baseline="0" dirty="0">
                <a:latin typeface="+mj-lt"/>
                <a:ea typeface="+mj-ea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883207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525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lang="ja-JP" altLang="en-US" sz="2400" b="1" baseline="0" dirty="0">
                <a:latin typeface="+mj-lt"/>
                <a:ea typeface="+mj-ea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4063808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小見出しあり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103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44" imgH="443" progId="TCLayout.ActiveDocument.1">
                  <p:embed/>
                </p:oleObj>
              </mc:Choice>
              <mc:Fallback>
                <p:oleObj name="think-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 fontAlgn="auto"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  <a:noFill/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lang="ja-JP" altLang="en-US" sz="2400" b="1" baseline="0" dirty="0">
                <a:latin typeface="+mj-lt"/>
                <a:ea typeface="+mj-ea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184204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30" Type="http://schemas.openxmlformats.org/officeDocument/2006/relationships/tags" Target="../tags/tag2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theme" Target="../theme/theme2.xml"/><Relationship Id="rId8" Type="http://schemas.openxmlformats.org/officeDocument/2006/relationships/tags" Target="../tags/tag31.xml"/><Relationship Id="rId9" Type="http://schemas.openxmlformats.org/officeDocument/2006/relationships/oleObject" Target="../embeddings/oleObject22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1503993720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1" imgW="270" imgH="270" progId="TCLayout.ActiveDocument.1">
                  <p:embed/>
                </p:oleObj>
              </mc:Choice>
              <mc:Fallback>
                <p:oleObj name="think-cellスライド" r:id="rId31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788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defTabSz="990564"/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>
            <a:extLst>
              <a:ext uri="{FF2B5EF4-FFF2-40B4-BE49-F238E27FC236}">
                <a16:creationId xmlns:a16="http://schemas.microsoft.com/office/drawing/2014/main" id="{14C42923-3EF7-49BA-182B-BC13B2D0D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9" name="スライド番号プレースホルダ 9">
            <a:extLst>
              <a:ext uri="{FF2B5EF4-FFF2-40B4-BE49-F238E27FC236}">
                <a16:creationId xmlns:a16="http://schemas.microsoft.com/office/drawing/2014/main" id="{1DD3D665-FBAC-7472-FE4D-1663689AE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id="{CF1AB0CE-70D4-6886-FA8A-B9D6EF80BF1E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1" fontAlgn="base" hangingPunct="1">
              <a:spcBef>
                <a:spcPts val="0"/>
              </a:spcBef>
              <a:spcAft>
                <a:spcPct val="0"/>
              </a:spcAft>
            </a:pPr>
            <a:r>
              <a:rPr lang="en-US" altLang="ja-JP"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  <p:sp>
        <p:nvSpPr>
          <p:cNvPr id="19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88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defTabSz="990564">
              <a:buFont typeface="Arial" panose="020B0604020202020204" pitchFamily="34" charset="0"/>
            </a:pPr>
            <a:r>
              <a:rPr kumimoji="1" lang="ja-JP" altLang="en-US"/>
              <a:t>マスター テキストの書式設定</a:t>
            </a:r>
          </a:p>
          <a:p>
            <a:pPr lvl="1" defTabSz="990564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 defTabSz="990564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 defTabSz="990564">
              <a:buFont typeface="Arial" panose="020B0604020202020204" pitchFamily="34" charset="0"/>
            </a:pPr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3">
            <a:extLst>
              <a:ext uri="{FF2B5EF4-FFF2-40B4-BE49-F238E27FC236}">
                <a16:creationId xmlns:a16="http://schemas.microsoft.com/office/drawing/2014/main" id="{A52B0ECE-C998-4CC4-048C-D08332AEE1C7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590200" y="6444000"/>
            <a:ext cx="1011600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334657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6" r:id="rId2"/>
    <p:sldLayoutId id="2147484059" r:id="rId3"/>
    <p:sldLayoutId id="2147484091" r:id="rId4"/>
    <p:sldLayoutId id="2147484098" r:id="rId5"/>
    <p:sldLayoutId id="2147484060" r:id="rId6"/>
    <p:sldLayoutId id="2147484061" r:id="rId7"/>
    <p:sldLayoutId id="2147484082" r:id="rId8"/>
    <p:sldLayoutId id="2147484081" r:id="rId9"/>
    <p:sldLayoutId id="2147484083" r:id="rId10"/>
    <p:sldLayoutId id="2147484084" r:id="rId11"/>
    <p:sldLayoutId id="2147484085" r:id="rId12"/>
    <p:sldLayoutId id="2147484086" r:id="rId13"/>
    <p:sldLayoutId id="2147484087" r:id="rId14"/>
    <p:sldLayoutId id="2147484093" r:id="rId15"/>
    <p:sldLayoutId id="2147484088" r:id="rId16"/>
    <p:sldLayoutId id="2147484063" r:id="rId17"/>
    <p:sldLayoutId id="2147484064" r:id="rId18"/>
    <p:sldLayoutId id="2147484065" r:id="rId19"/>
    <p:sldLayoutId id="2147484066" r:id="rId20"/>
    <p:sldLayoutId id="2147484067" r:id="rId21"/>
    <p:sldLayoutId id="2147484068" r:id="rId22"/>
    <p:sldLayoutId id="2147484069" r:id="rId23"/>
    <p:sldLayoutId id="2147484070" r:id="rId24"/>
    <p:sldLayoutId id="2147483952" r:id="rId25"/>
    <p:sldLayoutId id="2147483957" r:id="rId26"/>
    <p:sldLayoutId id="2147483956" r:id="rId27"/>
    <p:sldLayoutId id="2147483958" r:id="rId2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  <p:txStyles>
    <p:titleStyle>
      <a:lvl1pPr algn="l" defTabSz="685800" rtl="0" eaLnBrk="1" latinLnBrk="0" hangingPunct="1">
        <a:spcBef>
          <a:spcPct val="0"/>
        </a:spcBef>
        <a:buNone/>
        <a:defRPr kumimoji="1" lang="en-US" altLang="en-US" sz="2400" b="1" kern="1200" baseline="0" noProof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Tx/>
        <a:buNone/>
        <a:defRPr kumimoji="1" lang="ja-JP" altLang="en-US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defRPr kumimoji="1" lang="ja-JP" altLang="en-US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ja-JP" altLang="en-US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Yu Gothic UI" panose="020B0500000000000000" pitchFamily="50" charset="-128"/>
        <a:buChar char="•"/>
        <a:defRPr kumimoji="1" lang="ja-JP" altLang="en-US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kumimoji="1" lang="en-US" altLang="en-US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kumimoji="1"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kumimoji="1"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kumimoji="1"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5" pos="3840" userDrawn="1">
          <p15:clr>
            <a:srgbClr val="A4A3A4"/>
          </p15:clr>
        </p15:guide>
        <p15:guide id="107" pos="3727" userDrawn="1">
          <p15:clr>
            <a:srgbClr val="A4A3A4"/>
          </p15:clr>
        </p15:guide>
        <p15:guide id="108" pos="3953" userDrawn="1">
          <p15:clr>
            <a:srgbClr val="A4A3A4"/>
          </p15:clr>
        </p15:guide>
        <p15:guide id="109" pos="7378" userDrawn="1">
          <p15:clr>
            <a:srgbClr val="A4A3A4"/>
          </p15:clr>
        </p15:guide>
        <p15:guide id="111" orient="horz" pos="527" userDrawn="1">
          <p15:clr>
            <a:srgbClr val="A4A3A4"/>
          </p15:clr>
        </p15:guide>
        <p15:guide id="112" orient="horz" pos="935" userDrawn="1">
          <p15:clr>
            <a:srgbClr val="A4A3A4"/>
          </p15:clr>
        </p15:guide>
        <p15:guide id="113" orient="horz" pos="3974" userDrawn="1">
          <p15:clr>
            <a:srgbClr val="A4A3A4"/>
          </p15:clr>
        </p15:guide>
        <p15:guide id="116" orient="horz" pos="618" userDrawn="1">
          <p15:clr>
            <a:srgbClr val="A4A3A4"/>
          </p15:clr>
        </p15:guide>
        <p15:guide id="117" orient="horz" pos="96" userDrawn="1">
          <p15:clr>
            <a:srgbClr val="A4A3A4"/>
          </p15:clr>
        </p15:guide>
        <p15:guide id="118" orient="horz" pos="4156" userDrawn="1">
          <p15:clr>
            <a:srgbClr val="A4A3A4"/>
          </p15:clr>
        </p15:guide>
        <p15:guide id="119" orient="horz" pos="4269" userDrawn="1">
          <p15:clr>
            <a:srgbClr val="A4A3A4"/>
          </p15:clr>
        </p15:guide>
        <p15:guide id="120" pos="302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324092700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9" imgW="270" imgH="270" progId="TCLayout.ActiveDocument.1">
                  <p:embed/>
                </p:oleObj>
              </mc:Choice>
              <mc:Fallback>
                <p:oleObj name="think-cellスライド" r:id="rId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78800" y="151200"/>
            <a:ext cx="11232000" cy="64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 defTabSz="990564"/>
            <a:r>
              <a:rPr kumimoji="1" lang="ja-JP" altLang="en-US"/>
              <a:t>スライドタイトル</a:t>
            </a:r>
            <a:r>
              <a:rPr lang="ja-JP" altLang="en-US" noProof="0"/>
              <a:t>（入力が必要）</a:t>
            </a:r>
            <a:endParaRPr lang="en-US" noProof="0"/>
          </a:p>
        </p:txBody>
      </p:sp>
      <p:sp>
        <p:nvSpPr>
          <p:cNvPr id="8" name="フッター プレースホルダ 8">
            <a:extLst>
              <a:ext uri="{FF2B5EF4-FFF2-40B4-BE49-F238E27FC236}">
                <a16:creationId xmlns:a16="http://schemas.microsoft.com/office/drawing/2014/main" id="{14C42923-3EF7-49BA-182B-BC13B2D0D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9" name="スライド番号プレースホルダ 9">
            <a:extLst>
              <a:ext uri="{FF2B5EF4-FFF2-40B4-BE49-F238E27FC236}">
                <a16:creationId xmlns:a16="http://schemas.microsoft.com/office/drawing/2014/main" id="{1DD3D665-FBAC-7472-FE4D-1663689AE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id="{CF1AB0CE-70D4-6886-FA8A-B9D6EF80BF1E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1" fontAlgn="base" hangingPunct="1">
              <a:spcBef>
                <a:spcPts val="0"/>
              </a:spcBef>
              <a:spcAft>
                <a:spcPct val="0"/>
              </a:spcAft>
            </a:pPr>
            <a:r>
              <a:rPr lang="en-US" altLang="ja-JP"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  <p:sp>
        <p:nvSpPr>
          <p:cNvPr id="19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8800" y="1483200"/>
            <a:ext cx="11232000" cy="482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 defTabSz="990564">
              <a:buFont typeface="Arial" panose="020B0604020202020204" pitchFamily="34" charset="0"/>
            </a:pPr>
            <a:r>
              <a:rPr kumimoji="1" lang="ja-JP" altLang="en-US"/>
              <a:t>マスター テキストの書式設定</a:t>
            </a:r>
          </a:p>
          <a:p>
            <a:pPr lvl="1" defTabSz="990564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 defTabSz="990564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 defTabSz="990564">
              <a:buFont typeface="Arial" panose="020B0604020202020204" pitchFamily="34" charset="0"/>
            </a:pPr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268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2" r:id="rId1"/>
    <p:sldLayoutId id="2147484073" r:id="rId2"/>
    <p:sldLayoutId id="2147484074" r:id="rId3"/>
    <p:sldLayoutId id="2147484075" r:id="rId4"/>
    <p:sldLayoutId id="2147484076" r:id="rId5"/>
    <p:sldLayoutId id="2147484077" r:id="rId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  <p:txStyles>
    <p:titleStyle>
      <a:lvl1pPr algn="l" defTabSz="685800" rtl="0" eaLnBrk="1" latinLnBrk="0" hangingPunct="1">
        <a:spcBef>
          <a:spcPct val="0"/>
        </a:spcBef>
        <a:buNone/>
        <a:defRPr kumimoji="1" lang="en-US" altLang="en-US" sz="2400" b="1" kern="1200" baseline="0" noProof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Tx/>
        <a:buNone/>
        <a:defRPr kumimoji="1" lang="ja-JP" altLang="en-US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defRPr kumimoji="1" lang="ja-JP" altLang="en-US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ja-JP" altLang="en-US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Yu Gothic UI" panose="020B0500000000000000" pitchFamily="50" charset="-128"/>
        <a:buChar char="•"/>
        <a:defRPr kumimoji="1" lang="ja-JP" altLang="en-US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kumimoji="1" lang="en-US" altLang="en-US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kumimoji="1"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kumimoji="1"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kumimoji="1"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5" pos="3840" userDrawn="1">
          <p15:clr>
            <a:srgbClr val="A4A3A4"/>
          </p15:clr>
        </p15:guide>
        <p15:guide id="107" pos="3727" userDrawn="1">
          <p15:clr>
            <a:srgbClr val="A4A3A4"/>
          </p15:clr>
        </p15:guide>
        <p15:guide id="108" pos="3953" userDrawn="1">
          <p15:clr>
            <a:srgbClr val="A4A3A4"/>
          </p15:clr>
        </p15:guide>
        <p15:guide id="109" pos="7378" userDrawn="1">
          <p15:clr>
            <a:srgbClr val="A4A3A4"/>
          </p15:clr>
        </p15:guide>
        <p15:guide id="111" orient="horz" pos="504" userDrawn="1">
          <p15:clr>
            <a:srgbClr val="A4A3A4"/>
          </p15:clr>
        </p15:guide>
        <p15:guide id="112" orient="horz" pos="935" userDrawn="1">
          <p15:clr>
            <a:srgbClr val="A4A3A4"/>
          </p15:clr>
        </p15:guide>
        <p15:guide id="113" orient="horz" pos="3974" userDrawn="1">
          <p15:clr>
            <a:srgbClr val="A4A3A4"/>
          </p15:clr>
        </p15:guide>
        <p15:guide id="116" orient="horz" pos="527" userDrawn="1">
          <p15:clr>
            <a:srgbClr val="A4A3A4"/>
          </p15:clr>
        </p15:guide>
        <p15:guide id="117" orient="horz" pos="96" userDrawn="1">
          <p15:clr>
            <a:srgbClr val="A4A3A4"/>
          </p15:clr>
        </p15:guide>
        <p15:guide id="118" orient="horz" pos="4156" userDrawn="1">
          <p15:clr>
            <a:srgbClr val="A4A3A4"/>
          </p15:clr>
        </p15:guide>
        <p15:guide id="119" orient="horz" pos="4269" userDrawn="1">
          <p15:clr>
            <a:srgbClr val="A4A3A4"/>
          </p15:clr>
        </p15:guide>
        <p15:guide id="120" pos="302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ひな型リポジトリによる</a:t>
            </a:r>
          </a:p>
          <a:p>
            <a:r>
              <a:rPr lang="ja-JP" altLang="en-US" dirty="0"/>
              <a:t>プロジェクトの立上げと進め方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2026年10月30日（v0.6）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ja-JP" altLang="en-US" dirty="0"/>
              <a:t>AI と進めるプロジェクトの共通の土台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355080" y="1069848"/>
            <a:ext cx="2377440" cy="1444752"/>
          </a:xfrm>
          <a:prstGeom prst="line">
            <a:avLst/>
          </a:prstGeom>
          <a:ln w="19050">
            <a:solidFill>
              <a:srgbClr val="86BC2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732520" y="1069848"/>
            <a:ext cx="2331720" cy="1444752"/>
          </a:xfrm>
          <a:prstGeom prst="line">
            <a:avLst/>
          </a:prstGeom>
          <a:ln w="19050">
            <a:solidFill>
              <a:srgbClr val="86BC2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8732520" y="2514600"/>
            <a:ext cx="2331720" cy="2029968"/>
          </a:xfrm>
          <a:prstGeom prst="line">
            <a:avLst/>
          </a:prstGeom>
          <a:ln w="19050">
            <a:solidFill>
              <a:srgbClr val="86BC2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675120" y="457200"/>
            <a:ext cx="4114800" cy="4114800"/>
          </a:xfrm>
          <a:prstGeom prst="ellipse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69480" y="1051560"/>
            <a:ext cx="2926080" cy="292608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103120"/>
            <a:ext cx="219456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2000" b="1" lang="ja-JP" altLang="en-US" dirty="0">
                <a:solidFill>
                  <a:srgbClr val="046A38"/>
                </a:solidFill>
              </a:rPr>
              <a:t>ひな型</a:t>
            </a:r>
          </a:p>
          <a:p>
            <a:pPr algn="ctr"/>
            <a:r>
              <a:rPr sz="1400" b="1" lang="ja-JP" altLang="en-US" dirty="0">
                <a:solidFill>
                  <a:srgbClr val="046A38"/>
                </a:solidFill>
              </a:rPr>
              <a:t>リポジトリ</a:t>
            </a:r>
          </a:p>
        </p:txBody>
      </p:sp>
      <p:sp>
        <p:nvSpPr>
          <p:cNvPr id="12" name="Oval 11"/>
          <p:cNvSpPr/>
          <p:nvPr/>
        </p:nvSpPr>
        <p:spPr>
          <a:xfrm>
            <a:off x="5788152" y="502919"/>
            <a:ext cx="1133856" cy="11338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olded Corner 12"/>
          <p:cNvSpPr/>
          <p:nvPr/>
        </p:nvSpPr>
        <p:spPr>
          <a:xfrm>
            <a:off x="6135624" y="795527"/>
            <a:ext cx="438912" cy="54864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932688"/>
            <a:ext cx="274320" cy="36576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274320" cy="36576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70432"/>
            <a:ext cx="274320" cy="36576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673352"/>
            <a:ext cx="23774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300" b="1" lang="ja-JP" altLang="en-US" dirty="0">
                <a:solidFill>
                  <a:srgbClr val="046A38"/>
                </a:solidFill>
              </a:rPr>
              <a:t>ルール・手順書</a:t>
            </a:r>
          </a:p>
        </p:txBody>
      </p:sp>
      <p:sp>
        <p:nvSpPr>
          <p:cNvPr id="18" name="Oval 17"/>
          <p:cNvSpPr/>
          <p:nvPr/>
        </p:nvSpPr>
        <p:spPr>
          <a:xfrm>
            <a:off x="10497312" y="502919"/>
            <a:ext cx="1133856" cy="11338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ear 6 18"/>
          <p:cNvSpPr/>
          <p:nvPr/>
        </p:nvSpPr>
        <p:spPr>
          <a:xfrm>
            <a:off x="10789919" y="795527"/>
            <a:ext cx="548640" cy="548640"/>
          </a:xfrm>
          <a:prstGeom prst="gear6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673352"/>
            <a:ext cx="23774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300" b="1" lang="ja-JP" altLang="en-US" dirty="0">
                <a:solidFill>
                  <a:srgbClr val="046A38"/>
                </a:solidFill>
              </a:rPr>
              <a:t>決まった道具</a:t>
            </a:r>
          </a:p>
        </p:txBody>
      </p:sp>
      <p:sp>
        <p:nvSpPr>
          <p:cNvPr id="21" name="Oval 20"/>
          <p:cNvSpPr/>
          <p:nvPr/>
        </p:nvSpPr>
        <p:spPr>
          <a:xfrm>
            <a:off x="10497312" y="3977639"/>
            <a:ext cx="1133856" cy="11338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0844784" y="4544568"/>
            <a:ext cx="164592" cy="173736"/>
          </a:xfrm>
          <a:prstGeom prst="line">
            <a:avLst/>
          </a:prstGeom>
          <a:ln w="5715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09376" y="4361688"/>
            <a:ext cx="301752" cy="356616"/>
          </a:xfrm>
          <a:prstGeom prst="line">
            <a:avLst/>
          </a:prstGeom>
          <a:ln w="5715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29800" y="5148072"/>
            <a:ext cx="23774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300" b="1" lang="ja-JP" altLang="en-US" dirty="0">
                <a:solidFill>
                  <a:srgbClr val="046A38"/>
                </a:solidFill>
              </a:rPr>
              <a:t>確認の道具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1｜ひな型の目的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AI の種類や担当者が変わっても、同じ手順・同じ確認方法でデータモデル設計から試作アプリ・説明資料まで進めるための共通の土台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662940" y="1805940"/>
            <a:ext cx="868680" cy="86868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" y="1861718"/>
            <a:ext cx="32918" cy="115214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9672" y="1795881"/>
            <a:ext cx="115214" cy="11521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1014" y="1968703"/>
            <a:ext cx="592531" cy="493776"/>
          </a:xfrm>
          <a:prstGeom prst="roundRect">
            <a:avLst>
              <a:gd name="adj" fmla="val 25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lang="en-US" altLang="ja-JP" noProof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39112"/>
            <a:ext cx="146304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en-US" altLang="ja-JP" noProof="1" dirty="0">
                <a:solidFill>
                  <a:srgbClr val="046A38"/>
                </a:solidFill>
              </a:rPr>
              <a:t>Copilot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2240280"/>
            <a:ext cx="1097280" cy="640080"/>
          </a:xfrm>
          <a:prstGeom prst="line">
            <a:avLst/>
          </a:prstGeom>
          <a:ln w="28575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62940" y="2994660"/>
            <a:ext cx="868680" cy="86868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0820" y="3050438"/>
            <a:ext cx="32918" cy="115214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9672" y="2984601"/>
            <a:ext cx="115214" cy="11521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014" y="3157423"/>
            <a:ext cx="592531" cy="493776"/>
          </a:xfrm>
          <a:prstGeom prst="roundRect">
            <a:avLst>
              <a:gd name="adj" fmla="val 25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lang="en-US" altLang="ja-JP" noProof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27832"/>
            <a:ext cx="146304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en-US" altLang="ja-JP" noProof="1" dirty="0">
                <a:solidFill>
                  <a:srgbClr val="046A38"/>
                </a:solidFill>
              </a:rPr>
              <a:t>Claude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1800" y="3429000"/>
            <a:ext cx="1097280" cy="0"/>
          </a:xfrm>
          <a:prstGeom prst="line">
            <a:avLst/>
          </a:prstGeom>
          <a:ln w="28575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62940" y="4183380"/>
            <a:ext cx="868680" cy="86868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7376" y="4288536"/>
            <a:ext cx="279806" cy="279806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50392" y="4601260"/>
            <a:ext cx="493776" cy="329184"/>
          </a:xfrm>
          <a:prstGeom prst="round2Same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416552"/>
            <a:ext cx="146304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担当者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971800" y="3977639"/>
            <a:ext cx="1097280" cy="640081"/>
          </a:xfrm>
          <a:prstGeom prst="line">
            <a:avLst/>
          </a:prstGeom>
          <a:ln w="28575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160520" y="1965960"/>
            <a:ext cx="3566160" cy="292608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36576" bIns="36576" wrap="square"/>
          <a:lstStyle/>
          <a:p>
            <a:pPr algn="ctr"/>
            <a:r>
              <a:rPr sz="3000" b="1" lang="ja-JP" altLang="en-US" dirty="0">
                <a:solidFill>
                  <a:srgbClr val="FFFFFF"/>
                </a:solidFill>
              </a:rPr>
              <a:t>ひな型</a:t>
            </a:r>
          </a:p>
          <a:p>
            <a:pPr algn="ctr"/>
          </a:p>
          <a:p>
            <a:pPr algn="ctr"/>
            <a:r>
              <a:rPr sz="1600" b="0" lang="ja-JP" altLang="en-US" dirty="0">
                <a:solidFill>
                  <a:srgbClr val="FFFFFF"/>
                </a:solidFill>
              </a:rPr>
              <a:t>ルール</a:t>
            </a:r>
          </a:p>
          <a:p>
            <a:pPr algn="ctr"/>
            <a:r>
              <a:rPr sz="1600" b="0" lang="ja-JP" altLang="en-US" dirty="0">
                <a:solidFill>
                  <a:srgbClr val="FFFFFF"/>
                </a:solidFill>
              </a:rPr>
              <a:t>手順書</a:t>
            </a:r>
          </a:p>
          <a:p>
            <a:pPr algn="ctr"/>
            <a:r>
              <a:rPr sz="1600" b="0" lang="ja-JP" altLang="en-US" dirty="0">
                <a:solidFill>
                  <a:srgbClr val="FFFFFF"/>
                </a:solidFill>
              </a:rPr>
              <a:t>決まった道具</a:t>
            </a:r>
          </a:p>
          <a:p>
            <a:pPr algn="ctr"/>
            <a:r>
              <a:rPr sz="1600" b="0" lang="ja-JP" altLang="en-US" dirty="0">
                <a:solidFill>
                  <a:srgbClr val="FFFFFF"/>
                </a:solidFill>
              </a:rPr>
              <a:t>確認の道具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18120" y="3429000"/>
            <a:ext cx="822960" cy="0"/>
          </a:xfrm>
          <a:prstGeom prst="line">
            <a:avLst/>
          </a:prstGeom>
          <a:ln w="38100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778240" y="2240280"/>
            <a:ext cx="1005840" cy="10058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995867" y="2743200"/>
            <a:ext cx="213969" cy="225856"/>
          </a:xfrm>
          <a:prstGeom prst="line">
            <a:avLst/>
          </a:prstGeom>
          <a:ln w="74295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209836" y="2505456"/>
            <a:ext cx="392278" cy="463600"/>
          </a:xfrm>
          <a:prstGeom prst="line">
            <a:avLst/>
          </a:prstGeom>
          <a:ln w="74295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921240" y="2331720"/>
            <a:ext cx="178308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800" b="1" lang="ja-JP" altLang="en-US" dirty="0">
                <a:solidFill>
                  <a:srgbClr val="046A38"/>
                </a:solidFill>
              </a:rPr>
              <a:t>同じ品質の</a:t>
            </a:r>
          </a:p>
          <a:p>
            <a:pPr algn="l"/>
            <a:r>
              <a:rPr sz="1800" b="1" lang="ja-JP" altLang="en-US" dirty="0">
                <a:solidFill>
                  <a:srgbClr val="046A38"/>
                </a:solidFill>
              </a:rPr>
              <a:t>成果物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28201" y="3520440"/>
            <a:ext cx="340156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28201" y="3520440"/>
            <a:ext cx="340156" cy="65836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041587" y="3586276"/>
            <a:ext cx="0" cy="208484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54972" y="3586276"/>
            <a:ext cx="0" cy="208484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28201" y="3690518"/>
            <a:ext cx="340157" cy="0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464040" y="3493008"/>
            <a:ext cx="2194560" cy="3291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データ定義書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1742" y="3961180"/>
            <a:ext cx="373075" cy="241401"/>
          </a:xfrm>
          <a:prstGeom prst="rect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70848" y="4202582"/>
            <a:ext cx="54864" cy="54864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88552" y="4257446"/>
            <a:ext cx="219456" cy="274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40" y="3950208"/>
            <a:ext cx="2194560" cy="3291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試作アプリ</a:t>
            </a:r>
          </a:p>
        </p:txBody>
      </p:sp>
      <p:sp>
        <p:nvSpPr>
          <p:cNvPr id="39" name="Folded Corner 38"/>
          <p:cNvSpPr/>
          <p:nvPr/>
        </p:nvSpPr>
        <p:spPr>
          <a:xfrm>
            <a:off x="8966606" y="4407408"/>
            <a:ext cx="263347" cy="329184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15984" y="4489704"/>
            <a:ext cx="164592" cy="21945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15984" y="4561027"/>
            <a:ext cx="164592" cy="21945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15984" y="4632350"/>
            <a:ext cx="164592" cy="21945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4040" y="4407408"/>
            <a:ext cx="2194560" cy="3291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説明資料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5349240"/>
            <a:ext cx="11237976" cy="868680"/>
          </a:xfrm>
          <a:prstGeom prst="rect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5349240"/>
            <a:ext cx="1463040" cy="8686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解く課題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5349240"/>
            <a:ext cx="3200400" cy="8686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AI は会話をまたいで記憶しない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5349240"/>
            <a:ext cx="3200400" cy="8686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プロジェクト専用のスクリプトは使い回せない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349240"/>
            <a:ext cx="3200400" cy="8686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確認手段がないと出来がばらつく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2｜リポジトリの構造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AI への指示とルール・手順書、成果物、道具の3層で構成し、成果物は道具で作って道具で確かめるリポジトリの構造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691640"/>
            <a:ext cx="8183879" cy="1143000"/>
          </a:xfrm>
          <a:prstGeom prst="rect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1508760" cy="11430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800" b="1" lang="ja-JP" altLang="en-US" dirty="0">
                <a:solidFill>
                  <a:srgbClr val="046A38"/>
                </a:solidFill>
              </a:rPr>
              <a:t>指示・ルール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7128" y="1874520"/>
            <a:ext cx="201167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04288" y="2080260"/>
            <a:ext cx="182880" cy="7315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04288" y="2135124"/>
            <a:ext cx="365760" cy="2560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874520"/>
            <a:ext cx="1371599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500" b="1" lang="en-US" altLang="ja-JP" noProof="1" dirty="0">
                <a:solidFill>
                  <a:srgbClr val="046A38"/>
                </a:solidFill>
              </a:rPr>
              <a:t>.github/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AI への指示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874520"/>
            <a:ext cx="201167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2080260"/>
            <a:ext cx="182880" cy="7315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2135124"/>
            <a:ext cx="365760" cy="2560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1874520"/>
            <a:ext cx="1371599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500" b="1" lang="en-US" altLang="ja-JP" noProof="1" dirty="0">
                <a:solidFill>
                  <a:srgbClr val="046A38"/>
                </a:solidFill>
              </a:rPr>
              <a:t>rules/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作業ルール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4807" y="1874520"/>
            <a:ext cx="201167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01968" y="2080260"/>
            <a:ext cx="182880" cy="7315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1968" y="2135124"/>
            <a:ext cx="365760" cy="2560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1874520"/>
            <a:ext cx="1371599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500" b="1" lang="en-US" altLang="ja-JP" noProof="1" dirty="0">
                <a:solidFill>
                  <a:srgbClr val="046A38"/>
                </a:solidFill>
              </a:rPr>
              <a:t>playbook/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5段階の手順書</a:t>
            </a:r>
          </a:p>
        </p:txBody>
      </p:sp>
      <p:sp>
        <p:nvSpPr>
          <p:cNvPr id="20" name="Oval 19"/>
          <p:cNvSpPr/>
          <p:nvPr/>
        </p:nvSpPr>
        <p:spPr>
          <a:xfrm>
            <a:off x="8801100" y="1874520"/>
            <a:ext cx="777240" cy="7772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75089" y="1926640"/>
            <a:ext cx="29260" cy="10241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38513" y="1868119"/>
            <a:ext cx="102412" cy="10241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26372" y="2021738"/>
            <a:ext cx="526694" cy="438912"/>
          </a:xfrm>
          <a:prstGeom prst="roundRect">
            <a:avLst>
              <a:gd name="adj" fmla="val 25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lang="en-US" altLang="ja-JP" noProof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1691640"/>
            <a:ext cx="2011680" cy="11430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AI が最初に読む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3063240"/>
            <a:ext cx="8183879" cy="141732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063240"/>
            <a:ext cx="1508760" cy="1417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800" b="1" lang="ja-JP" altLang="en-US" dirty="0">
                <a:solidFill>
                  <a:srgbClr val="FFFFFF"/>
                </a:solidFill>
              </a:rPr>
              <a:t>成果物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7128" y="3246120"/>
            <a:ext cx="3086099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04288" y="3589020"/>
            <a:ext cx="182880" cy="7315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04288" y="3643884"/>
            <a:ext cx="365760" cy="2560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3246120"/>
            <a:ext cx="2446020" cy="10515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500" b="1" lang="en-US" altLang="ja-JP" noProof="1" dirty="0">
                <a:solidFill>
                  <a:srgbClr val="046A38"/>
                </a:solidFill>
              </a:rPr>
              <a:t>docs/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定義書・資料の最新版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0388" y="3246120"/>
            <a:ext cx="3086099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27548" y="3589020"/>
            <a:ext cx="182880" cy="7315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7548" y="3643884"/>
            <a:ext cx="365760" cy="2560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4748" y="3246120"/>
            <a:ext cx="2446020" cy="10515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500" b="1" lang="en-US" altLang="ja-JP" noProof="1" dirty="0">
                <a:solidFill>
                  <a:srgbClr val="046A38"/>
                </a:solidFill>
              </a:rPr>
              <a:t>app/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試作アプリ・業務画面</a:t>
            </a:r>
          </a:p>
        </p:txBody>
      </p:sp>
      <p:sp>
        <p:nvSpPr>
          <p:cNvPr id="35" name="Oval 34"/>
          <p:cNvSpPr/>
          <p:nvPr/>
        </p:nvSpPr>
        <p:spPr>
          <a:xfrm>
            <a:off x="8801100" y="3383280"/>
            <a:ext cx="777240" cy="7772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65361" y="3479291"/>
            <a:ext cx="248716" cy="248716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8970264" y="3757269"/>
            <a:ext cx="438912" cy="292608"/>
          </a:xfrm>
          <a:prstGeom prst="round2Same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3063240"/>
            <a:ext cx="2011680" cy="1417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人がレビューする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" y="4709160"/>
            <a:ext cx="8183879" cy="1143000"/>
          </a:xfrm>
          <a:prstGeom prst="rect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709160"/>
            <a:ext cx="1508760" cy="11430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800" b="1" lang="ja-JP" altLang="en-US" dirty="0">
                <a:solidFill>
                  <a:srgbClr val="046A38"/>
                </a:solidFill>
              </a:rPr>
              <a:t>道具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7128" y="4892040"/>
            <a:ext cx="201167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04288" y="5097780"/>
            <a:ext cx="182880" cy="7315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04288" y="5152644"/>
            <a:ext cx="365760" cy="2560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61488" y="4892040"/>
            <a:ext cx="1371599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500" b="1" lang="en-US" altLang="ja-JP" noProof="1" dirty="0">
                <a:solidFill>
                  <a:srgbClr val="046A38"/>
                </a:solidFill>
              </a:rPr>
              <a:t>doc_tools/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資料の道具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5968" y="4892040"/>
            <a:ext cx="201167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53128" y="5097780"/>
            <a:ext cx="182880" cy="7315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53128" y="5152644"/>
            <a:ext cx="365760" cy="2560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0328" y="4892040"/>
            <a:ext cx="1371599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500" b="1" lang="en-US" altLang="ja-JP" noProof="1" dirty="0">
                <a:solidFill>
                  <a:srgbClr val="046A38"/>
                </a:solidFill>
              </a:rPr>
              <a:t>app/tools/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生成と確認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4807" y="4892040"/>
            <a:ext cx="201167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01968" y="5097780"/>
            <a:ext cx="182880" cy="7315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01968" y="5152644"/>
            <a:ext cx="365760" cy="2560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9168" y="4892040"/>
            <a:ext cx="1371599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500" b="1" lang="en-US" altLang="ja-JP" noProof="1" dirty="0">
                <a:solidFill>
                  <a:srgbClr val="046A38"/>
                </a:solidFill>
              </a:rPr>
              <a:t>check_all.py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一括の確認</a:t>
            </a:r>
          </a:p>
        </p:txBody>
      </p:sp>
      <p:sp>
        <p:nvSpPr>
          <p:cNvPr id="53" name="Oval 52"/>
          <p:cNvSpPr/>
          <p:nvPr/>
        </p:nvSpPr>
        <p:spPr>
          <a:xfrm>
            <a:off x="8801100" y="4892040"/>
            <a:ext cx="777240" cy="7772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75089" y="4944160"/>
            <a:ext cx="29260" cy="10241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138513" y="4885639"/>
            <a:ext cx="102412" cy="10241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926372" y="5039258"/>
            <a:ext cx="526694" cy="438912"/>
          </a:xfrm>
          <a:prstGeom prst="roundRect">
            <a:avLst>
              <a:gd name="adj" fmla="val 25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lang="en-US" altLang="ja-JP" noProof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709160"/>
            <a:ext cx="2011680" cy="11430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AI が使い、流す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3｜ひな型の考え方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文書を正とし、事実の入力と計算による判断を分け、確認手段で品質を担保し、指摘をルールとして蓄積する4つの原則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691640"/>
            <a:ext cx="2569464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en-US" altLang="ja-JP" noProof="1" dirty="0">
                <a:solidFill>
                  <a:srgbClr val="86BC25"/>
                </a:solidFill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080260"/>
            <a:ext cx="1234440" cy="12344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7543" y="2388870"/>
            <a:ext cx="765352" cy="6172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7543" y="2388870"/>
            <a:ext cx="765352" cy="14813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632661" y="2537002"/>
            <a:ext cx="0" cy="469088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87778" y="2537002"/>
            <a:ext cx="0" cy="469088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7543" y="2771546"/>
            <a:ext cx="765353" cy="0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5488" y="3474720"/>
            <a:ext cx="2569464" cy="8686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2000" b="1" lang="ja-JP" altLang="en-US" dirty="0">
                <a:solidFill>
                  <a:srgbClr val="046A38"/>
                </a:solidFill>
              </a:rPr>
              <a:t>定義書が正</a:t>
            </a:r>
          </a:p>
          <a:p>
            <a:pPr algn="ctr"/>
            <a:r>
              <a:rPr sz="2000" b="1" lang="ja-JP" altLang="en-US" dirty="0">
                <a:solidFill>
                  <a:srgbClr val="046A38"/>
                </a:solidFill>
              </a:rPr>
              <a:t>アプリは生成物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4480560"/>
            <a:ext cx="2020824" cy="0"/>
          </a:xfrm>
          <a:prstGeom prst="line">
            <a:avLst/>
          </a:prstGeom>
          <a:ln w="1905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4617720"/>
            <a:ext cx="2386584" cy="16459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項目の追加・変更は定義書を直してアプリを作り直し。アプリのコードだけで辻褄を合わせる変更の禁止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1691640"/>
            <a:ext cx="2569464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en-US" altLang="ja-JP" noProof="1" dirty="0">
                <a:solidFill>
                  <a:srgbClr val="86BC25"/>
                </a:solidFill>
              </a:rPr>
              <a:t>02</a:t>
            </a:r>
          </a:p>
        </p:txBody>
      </p:sp>
      <p:sp>
        <p:nvSpPr>
          <p:cNvPr id="17" name="Oval 16"/>
          <p:cNvSpPr/>
          <p:nvPr/>
        </p:nvSpPr>
        <p:spPr>
          <a:xfrm>
            <a:off x="4032504" y="2080260"/>
            <a:ext cx="1234440" cy="12344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4279392" y="2327148"/>
            <a:ext cx="740664" cy="740664"/>
          </a:xfrm>
          <a:prstGeom prst="gear6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3474720"/>
            <a:ext cx="2569464" cy="8686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2000" b="1" lang="ja-JP" altLang="en-US" dirty="0">
                <a:solidFill>
                  <a:srgbClr val="046A38"/>
                </a:solidFill>
              </a:rPr>
              <a:t>人は事実を入力</a:t>
            </a:r>
          </a:p>
          <a:p>
            <a:pPr algn="ctr"/>
            <a:r>
              <a:rPr sz="2000" b="1" lang="ja-JP" altLang="en-US" dirty="0">
                <a:solidFill>
                  <a:srgbClr val="046A38"/>
                </a:solidFill>
              </a:rPr>
              <a:t>判断は計算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9312" y="4480560"/>
            <a:ext cx="2020824" cy="0"/>
          </a:xfrm>
          <a:prstGeom prst="line">
            <a:avLst/>
          </a:prstGeom>
          <a:ln w="1905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56432" y="4617720"/>
            <a:ext cx="2386584" cy="16459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遅れ・良否などの判定の値を人に入力させず、閾値はマスタに保持。全件を同じ基準で比較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1691640"/>
            <a:ext cx="2569464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en-US" altLang="ja-JP" noProof="1" dirty="0">
                <a:solidFill>
                  <a:srgbClr val="86BC25"/>
                </a:solidFill>
              </a:rPr>
              <a:t>03</a:t>
            </a:r>
          </a:p>
        </p:txBody>
      </p:sp>
      <p:sp>
        <p:nvSpPr>
          <p:cNvPr id="23" name="Oval 22"/>
          <p:cNvSpPr/>
          <p:nvPr/>
        </p:nvSpPr>
        <p:spPr>
          <a:xfrm>
            <a:off x="6922008" y="2080260"/>
            <a:ext cx="1234440" cy="12344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242962" y="2697480"/>
            <a:ext cx="222199" cy="234543"/>
          </a:xfrm>
          <a:prstGeom prst="line">
            <a:avLst/>
          </a:prstGeom>
          <a:ln w="7715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465161" y="2450592"/>
            <a:ext cx="407365" cy="481431"/>
          </a:xfrm>
          <a:prstGeom prst="line">
            <a:avLst/>
          </a:prstGeom>
          <a:ln w="7715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54496" y="3474720"/>
            <a:ext cx="2569464" cy="8686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2000" b="1" lang="ja-JP" altLang="en-US" dirty="0">
                <a:solidFill>
                  <a:srgbClr val="046A38"/>
                </a:solidFill>
              </a:rPr>
              <a:t>確認手段が</a:t>
            </a:r>
          </a:p>
          <a:p>
            <a:pPr algn="ctr"/>
            <a:r>
              <a:rPr sz="2000" b="1" lang="ja-JP" altLang="en-US" dirty="0">
                <a:solidFill>
                  <a:srgbClr val="046A38"/>
                </a:solidFill>
              </a:rPr>
              <a:t>品質を決定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28816" y="4480560"/>
            <a:ext cx="2020824" cy="0"/>
          </a:xfrm>
          <a:prstGeom prst="line">
            <a:avLst/>
          </a:prstGeom>
          <a:ln w="1905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45936" y="4617720"/>
            <a:ext cx="2386584" cy="16459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AI の出来は正解と比べる手段の有無で変動。点検・全画面の確認・PNG に合格するまで AI が自ら修正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1691640"/>
            <a:ext cx="2569464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en-US" altLang="ja-JP" noProof="1" dirty="0">
                <a:solidFill>
                  <a:srgbClr val="86BC25"/>
                </a:solidFill>
              </a:rPr>
              <a:t>04</a:t>
            </a:r>
          </a:p>
        </p:txBody>
      </p:sp>
      <p:sp>
        <p:nvSpPr>
          <p:cNvPr id="30" name="Oval 29"/>
          <p:cNvSpPr/>
          <p:nvPr/>
        </p:nvSpPr>
        <p:spPr>
          <a:xfrm>
            <a:off x="9811512" y="2080260"/>
            <a:ext cx="1234440" cy="12344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olded Corner 30"/>
          <p:cNvSpPr/>
          <p:nvPr/>
        </p:nvSpPr>
        <p:spPr>
          <a:xfrm>
            <a:off x="10132466" y="2327148"/>
            <a:ext cx="592531" cy="740664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43566" y="2512314"/>
            <a:ext cx="370332" cy="49377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43566" y="2672791"/>
            <a:ext cx="370332" cy="49377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43566" y="2833268"/>
            <a:ext cx="370332" cy="49377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474720"/>
            <a:ext cx="2569464" cy="8686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2000" b="1" lang="ja-JP" altLang="en-US" dirty="0">
                <a:solidFill>
                  <a:srgbClr val="046A38"/>
                </a:solidFill>
              </a:rPr>
              <a:t>ルールのファイルが</a:t>
            </a:r>
          </a:p>
          <a:p>
            <a:pPr algn="ctr"/>
            <a:r>
              <a:rPr sz="2000" b="1" lang="ja-JP" altLang="en-US" dirty="0">
                <a:solidFill>
                  <a:srgbClr val="046A38"/>
                </a:solidFill>
              </a:rPr>
              <a:t>記憶の代わり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18320" y="4480560"/>
            <a:ext cx="2020824" cy="0"/>
          </a:xfrm>
          <a:prstGeom prst="line">
            <a:avLst/>
          </a:prstGeom>
          <a:ln w="1905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235440" y="4617720"/>
            <a:ext cx="2386584" cy="16459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AI は会話をまたいで記憶しないため、指摘と理由を rules/ に記録し、次の作業から適用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4｜定義書からアプリまでの流れ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AI は JSON を直してスクリプトで定義書を作り、定義書からアプリを生成するため、体裁と構造が毎回同一になる仕組み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78200" y="3063240"/>
            <a:ext cx="9632551" cy="0"/>
          </a:xfrm>
          <a:prstGeom prst="line">
            <a:avLst/>
          </a:prstGeom>
          <a:ln w="5080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2057400"/>
            <a:ext cx="6238820" cy="0"/>
          </a:xfrm>
          <a:prstGeom prst="line">
            <a:avLst/>
          </a:prstGeom>
          <a:ln w="1905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2057400"/>
            <a:ext cx="0" cy="182880"/>
          </a:xfrm>
          <a:prstGeom prst="line">
            <a:avLst/>
          </a:prstGeom>
          <a:ln w="1905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05748" y="2057400"/>
            <a:ext cx="0" cy="182880"/>
          </a:xfrm>
          <a:prstGeom prst="line">
            <a:avLst/>
          </a:prstGeom>
          <a:ln w="1905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1691640"/>
            <a:ext cx="623882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ja-JP" altLang="en-US" dirty="0">
                <a:solidFill>
                  <a:srgbClr val="26890D"/>
                </a:solidFill>
              </a:rPr>
              <a:t>定義書を作る（doc_tools/definition.py）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88628" y="2057400"/>
            <a:ext cx="4633396" cy="0"/>
          </a:xfrm>
          <a:prstGeom prst="line">
            <a:avLst/>
          </a:prstGeom>
          <a:ln w="1905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88628" y="2057400"/>
            <a:ext cx="0" cy="182880"/>
          </a:xfrm>
          <a:prstGeom prst="line">
            <a:avLst/>
          </a:prstGeom>
          <a:ln w="1905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622024" y="2057400"/>
            <a:ext cx="0" cy="182880"/>
          </a:xfrm>
          <a:prstGeom prst="line">
            <a:avLst/>
          </a:prstGeom>
          <a:ln w="1905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88628" y="1691640"/>
            <a:ext cx="463339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ja-JP" altLang="en-US" dirty="0">
                <a:solidFill>
                  <a:srgbClr val="26890D"/>
                </a:solidFill>
              </a:rPr>
              <a:t>アプリを作る（app/tools/）</a:t>
            </a:r>
          </a:p>
        </p:txBody>
      </p:sp>
      <p:sp>
        <p:nvSpPr>
          <p:cNvPr id="15" name="Oval 14"/>
          <p:cNvSpPr/>
          <p:nvPr/>
        </p:nvSpPr>
        <p:spPr>
          <a:xfrm>
            <a:off x="775280" y="25603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0563" y="2823210"/>
            <a:ext cx="595274" cy="480060"/>
          </a:xfrm>
          <a:prstGeom prst="rect">
            <a:avLst/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0563" y="2823210"/>
            <a:ext cx="595274" cy="115214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178988" y="2938424"/>
            <a:ext cx="0" cy="364846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77412" y="2938424"/>
            <a:ext cx="0" cy="364846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0563" y="3120847"/>
            <a:ext cx="595274" cy="0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5488" y="3749039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ja-JP" altLang="en-US" dirty="0">
                <a:solidFill>
                  <a:srgbClr val="046A38"/>
                </a:solidFill>
              </a:rPr>
              <a:t>定義書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114800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人が直す正本</a:t>
            </a:r>
          </a:p>
        </p:txBody>
      </p:sp>
      <p:sp>
        <p:nvSpPr>
          <p:cNvPr id="23" name="Oval 22"/>
          <p:cNvSpPr/>
          <p:nvPr/>
        </p:nvSpPr>
        <p:spPr>
          <a:xfrm>
            <a:off x="2380705" y="2560320"/>
            <a:ext cx="1005840" cy="10058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76387" y="2813608"/>
            <a:ext cx="614476" cy="4992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 lang="en-US" altLang="ja-JP" noProof="1" dirty="0">
                <a:solidFill>
                  <a:srgbClr val="26890D"/>
                </a:solidFill>
              </a:rPr>
              <a:t>{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0913" y="3749039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en-US" altLang="ja-JP" noProof="1" dirty="0">
                <a:solidFill>
                  <a:srgbClr val="046A38"/>
                </a:solidFill>
              </a:rPr>
              <a:t>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0913" y="4114800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AI が修正</a:t>
            </a:r>
          </a:p>
        </p:txBody>
      </p:sp>
      <p:sp>
        <p:nvSpPr>
          <p:cNvPr id="27" name="Oval 26"/>
          <p:cNvSpPr/>
          <p:nvPr/>
        </p:nvSpPr>
        <p:spPr>
          <a:xfrm>
            <a:off x="3986130" y="2560320"/>
            <a:ext cx="1005840" cy="10058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91413" y="2823210"/>
            <a:ext cx="595274" cy="480060"/>
          </a:xfrm>
          <a:prstGeom prst="rect">
            <a:avLst/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91413" y="2823210"/>
            <a:ext cx="595274" cy="115214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389838" y="2938424"/>
            <a:ext cx="0" cy="364846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88263" y="2938424"/>
            <a:ext cx="0" cy="364846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91413" y="3120847"/>
            <a:ext cx="595275" cy="0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86338" y="3749039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ja-JP" altLang="en-US" dirty="0">
                <a:solidFill>
                  <a:srgbClr val="046A38"/>
                </a:solidFill>
              </a:rPr>
              <a:t>新しい版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6338" y="4114800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build で作成</a:t>
            </a:r>
          </a:p>
        </p:txBody>
      </p:sp>
      <p:sp>
        <p:nvSpPr>
          <p:cNvPr id="35" name="Oval 34"/>
          <p:cNvSpPr/>
          <p:nvPr/>
        </p:nvSpPr>
        <p:spPr>
          <a:xfrm>
            <a:off x="5591556" y="2560320"/>
            <a:ext cx="1005840" cy="10058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864047" y="3063240"/>
            <a:ext cx="172821" cy="182422"/>
          </a:xfrm>
          <a:prstGeom prst="line">
            <a:avLst/>
          </a:prstGeom>
          <a:ln w="60007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036868" y="2871216"/>
            <a:ext cx="316840" cy="374446"/>
          </a:xfrm>
          <a:prstGeom prst="line">
            <a:avLst/>
          </a:prstGeom>
          <a:ln w="60007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91763" y="3749039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ja-JP" altLang="en-US" dirty="0">
                <a:solidFill>
                  <a:srgbClr val="046A38"/>
                </a:solidFill>
              </a:rPr>
              <a:t>点検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1763" y="4114800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誤り0件</a:t>
            </a:r>
          </a:p>
        </p:txBody>
      </p:sp>
      <p:sp>
        <p:nvSpPr>
          <p:cNvPr id="40" name="Oval 39"/>
          <p:cNvSpPr/>
          <p:nvPr/>
        </p:nvSpPr>
        <p:spPr>
          <a:xfrm>
            <a:off x="7196981" y="2560320"/>
            <a:ext cx="1005840" cy="10058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ear 6 40"/>
          <p:cNvSpPr/>
          <p:nvPr/>
        </p:nvSpPr>
        <p:spPr>
          <a:xfrm>
            <a:off x="7411865" y="2775204"/>
            <a:ext cx="576072" cy="576072"/>
          </a:xfrm>
          <a:prstGeom prst="gear6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97188" y="3749039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ja-JP" altLang="en-US" dirty="0">
                <a:solidFill>
                  <a:srgbClr val="046A38"/>
                </a:solidFill>
              </a:rPr>
              <a:t>生成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7188" y="4114800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モデル・管理画面</a:t>
            </a:r>
          </a:p>
        </p:txBody>
      </p:sp>
      <p:sp>
        <p:nvSpPr>
          <p:cNvPr id="44" name="Oval 43"/>
          <p:cNvSpPr/>
          <p:nvPr/>
        </p:nvSpPr>
        <p:spPr>
          <a:xfrm>
            <a:off x="8802406" y="2560320"/>
            <a:ext cx="1005840" cy="10058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78885" y="2794406"/>
            <a:ext cx="652881" cy="422452"/>
          </a:xfrm>
          <a:prstGeom prst="rect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57320" y="3216859"/>
            <a:ext cx="96012" cy="9601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13302" y="3312871"/>
            <a:ext cx="384048" cy="48006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2613" y="3749039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ja-JP" altLang="en-US" dirty="0">
                <a:solidFill>
                  <a:srgbClr val="046A38"/>
                </a:solidFill>
              </a:rPr>
              <a:t>試作アプリ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2613" y="4114800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業務画面を追加</a:t>
            </a:r>
          </a:p>
        </p:txBody>
      </p:sp>
      <p:sp>
        <p:nvSpPr>
          <p:cNvPr id="50" name="Oval 49"/>
          <p:cNvSpPr/>
          <p:nvPr/>
        </p:nvSpPr>
        <p:spPr>
          <a:xfrm>
            <a:off x="10407831" y="2560320"/>
            <a:ext cx="1005840" cy="100584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680322" y="3063240"/>
            <a:ext cx="172822" cy="182422"/>
          </a:xfrm>
          <a:prstGeom prst="line">
            <a:avLst/>
          </a:prstGeom>
          <a:ln w="60007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853144" y="2871216"/>
            <a:ext cx="316839" cy="374446"/>
          </a:xfrm>
          <a:prstGeom prst="line">
            <a:avLst/>
          </a:prstGeom>
          <a:ln w="60007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108038" y="3749039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ja-JP" altLang="en-US" dirty="0">
                <a:solidFill>
                  <a:srgbClr val="046A38"/>
                </a:solidFill>
              </a:rPr>
              <a:t>確認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8038" y="4114800"/>
            <a:ext cx="160542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全画面・文言</a:t>
            </a:r>
          </a:p>
        </p:txBody>
      </p:sp>
      <p:sp>
        <p:nvSpPr>
          <p:cNvPr id="55" name="Oval 54"/>
          <p:cNvSpPr/>
          <p:nvPr/>
        </p:nvSpPr>
        <p:spPr>
          <a:xfrm>
            <a:off x="711272" y="2496312"/>
            <a:ext cx="1133856" cy="1133856"/>
          </a:xfrm>
          <a:prstGeom prst="ellipse">
            <a:avLst/>
          </a:prstGeom>
          <a:noFill/>
          <a:ln w="38100">
            <a:solidFill>
              <a:srgbClr val="046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278200" y="4526280"/>
            <a:ext cx="8027126" cy="548640"/>
          </a:xfrm>
          <a:custGeom>
            <a:avLst/>
            <a:gdLst/>
            <a:ahLst/>
            <a:cxnLst/>
            <a:rect l="l" t="t" r="r" b="b"/>
            <a:pathLst>
              <a:path w="8027126" h="548640">
                <a:moveTo>
                  <a:pt x="8027126" y="0"/>
                </a:moveTo>
                <a:lnTo>
                  <a:pt x="8027126" y="548640"/>
                </a:lnTo>
                <a:lnTo>
                  <a:pt x="0" y="548640"/>
                </a:lnTo>
              </a:path>
            </a:pathLst>
          </a:custGeom>
          <a:noFill/>
          <a:ln w="25400">
            <a:solidFill>
              <a:srgbClr val="046A3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278200" y="4526280"/>
            <a:ext cx="0" cy="548640"/>
          </a:xfrm>
          <a:prstGeom prst="line">
            <a:avLst/>
          </a:prstGeom>
          <a:ln w="25400">
            <a:solidFill>
              <a:srgbClr val="046A38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552520" y="5166359"/>
            <a:ext cx="7478485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600" b="1" lang="ja-JP" altLang="en-US" dirty="0">
                <a:solidFill>
                  <a:srgbClr val="046A38"/>
                </a:solidFill>
              </a:rPr>
              <a:t>業務画面の作成で見つかった定義書の不足は、定義書の版上げで反映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5｜5段階の進め方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事象と課題から To-Be像・データモデル・試作アプリ・資料へ5段階で進め、各段階の確認と人の合意を次段階への移行条件とする進め方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2697480"/>
            <a:ext cx="9710927" cy="0"/>
          </a:xfrm>
          <a:prstGeom prst="line">
            <a:avLst/>
          </a:prstGeom>
          <a:ln w="5080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45719" y="1691640"/>
            <a:ext cx="2103120" cy="4114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800" b="1" lang="ja-JP" altLang="en-US" dirty="0">
                <a:solidFill>
                  <a:srgbClr val="046A38"/>
                </a:solidFill>
              </a:rPr>
              <a:t>事象と課題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31720"/>
            <a:ext cx="731520" cy="73152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1" lang="en-US" altLang="ja-JP" noProof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200400"/>
            <a:ext cx="2011680" cy="7315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目指す姿・事象・</a:t>
            </a:r>
          </a:p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課題・解きたい判断</a:t>
            </a:r>
          </a:p>
        </p:txBody>
      </p:sp>
      <p:sp>
        <p:nvSpPr>
          <p:cNvPr id="10" name="Diamond 9"/>
          <p:cNvSpPr/>
          <p:nvPr/>
        </p:nvSpPr>
        <p:spPr>
          <a:xfrm>
            <a:off x="1700784" y="2313432"/>
            <a:ext cx="768096" cy="768096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lang="ja-JP" altLang="en-US" dirty="0">
                <a:solidFill>
                  <a:srgbClr val="FFFFFF"/>
                </a:solidFill>
              </a:rPr>
              <a:t>合意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84832" y="3108960"/>
            <a:ext cx="0" cy="1097280"/>
          </a:xfrm>
          <a:prstGeom prst="line">
            <a:avLst/>
          </a:prstGeom>
          <a:ln w="15875">
            <a:solidFill>
              <a:srgbClr val="046A3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24712" y="4206240"/>
            <a:ext cx="1920240" cy="868680"/>
          </a:xfrm>
          <a:prstGeom prst="rect">
            <a:avLst/>
          </a:prstGeom>
          <a:solidFill>
            <a:srgbClr val="F6F9F0"/>
          </a:solidFill>
          <a:ln w="15875">
            <a:solidFill>
              <a:srgbClr val="046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 tIns="73152" bIns="36576" wrap="square"/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課題と判断の一覧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264" y="1691640"/>
            <a:ext cx="2103120" cy="4114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800" b="1" lang="ja-JP" altLang="en-US" dirty="0">
                <a:solidFill>
                  <a:srgbClr val="046A38"/>
                </a:solidFill>
              </a:rPr>
              <a:t>To-Be像</a:t>
            </a:r>
          </a:p>
        </p:txBody>
      </p:sp>
      <p:sp>
        <p:nvSpPr>
          <p:cNvPr id="14" name="Oval 13"/>
          <p:cNvSpPr/>
          <p:nvPr/>
        </p:nvSpPr>
        <p:spPr>
          <a:xfrm>
            <a:off x="2798064" y="2331720"/>
            <a:ext cx="731520" cy="73152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1" lang="en-US" altLang="ja-JP" noProof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3200400"/>
            <a:ext cx="2011680" cy="7315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領域別の</a:t>
            </a:r>
          </a:p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To-Be像</a:t>
            </a:r>
          </a:p>
        </p:txBody>
      </p:sp>
      <p:sp>
        <p:nvSpPr>
          <p:cNvPr id="16" name="Diamond 15"/>
          <p:cNvSpPr/>
          <p:nvPr/>
        </p:nvSpPr>
        <p:spPr>
          <a:xfrm>
            <a:off x="3858768" y="2313432"/>
            <a:ext cx="768096" cy="768096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lang="ja-JP" altLang="en-US" dirty="0">
                <a:solidFill>
                  <a:srgbClr val="FFFFFF"/>
                </a:solidFill>
              </a:rPr>
              <a:t>合意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42816" y="3108960"/>
            <a:ext cx="0" cy="1097280"/>
          </a:xfrm>
          <a:prstGeom prst="line">
            <a:avLst/>
          </a:prstGeom>
          <a:ln w="15875">
            <a:solidFill>
              <a:srgbClr val="046A3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82696" y="4206240"/>
            <a:ext cx="1920240" cy="868680"/>
          </a:xfrm>
          <a:prstGeom prst="rect">
            <a:avLst/>
          </a:prstGeom>
          <a:solidFill>
            <a:srgbClr val="F6F9F0"/>
          </a:solidFill>
          <a:ln w="15875">
            <a:solidFill>
              <a:srgbClr val="046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 tIns="73152" bIns="36576" wrap="square"/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To-Be像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1691640"/>
            <a:ext cx="2103120" cy="4114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800" b="1" lang="ja-JP" altLang="en-US" dirty="0">
                <a:solidFill>
                  <a:srgbClr val="046A38"/>
                </a:solidFill>
              </a:rPr>
              <a:t>データモデル</a:t>
            </a:r>
          </a:p>
        </p:txBody>
      </p:sp>
      <p:sp>
        <p:nvSpPr>
          <p:cNvPr id="20" name="Oval 19"/>
          <p:cNvSpPr/>
          <p:nvPr/>
        </p:nvSpPr>
        <p:spPr>
          <a:xfrm>
            <a:off x="4956048" y="2331720"/>
            <a:ext cx="731520" cy="73152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1" lang="en-US" altLang="ja-JP" noProof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200400"/>
            <a:ext cx="2011680" cy="7315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データ定義書</a:t>
            </a:r>
          </a:p>
        </p:txBody>
      </p:sp>
      <p:sp>
        <p:nvSpPr>
          <p:cNvPr id="22" name="Diamond 21"/>
          <p:cNvSpPr/>
          <p:nvPr/>
        </p:nvSpPr>
        <p:spPr>
          <a:xfrm>
            <a:off x="6016752" y="2313432"/>
            <a:ext cx="768096" cy="768096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lang="ja-JP" altLang="en-US" dirty="0">
                <a:solidFill>
                  <a:srgbClr val="FFFFFF"/>
                </a:solidFill>
              </a:rPr>
              <a:t>合意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3108960"/>
            <a:ext cx="0" cy="1097280"/>
          </a:xfrm>
          <a:prstGeom prst="line">
            <a:avLst/>
          </a:prstGeom>
          <a:ln w="15875">
            <a:solidFill>
              <a:srgbClr val="046A3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40680" y="4206240"/>
            <a:ext cx="1920240" cy="868680"/>
          </a:xfrm>
          <a:prstGeom prst="rect">
            <a:avLst/>
          </a:prstGeom>
          <a:solidFill>
            <a:srgbClr val="F6F9F0"/>
          </a:solidFill>
          <a:ln w="15875">
            <a:solidFill>
              <a:srgbClr val="046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 tIns="73152" bIns="36576" wrap="square"/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テーブル一覧と1行の単位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1691640"/>
            <a:ext cx="2103120" cy="4114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800" b="1" lang="ja-JP" altLang="en-US" dirty="0">
                <a:solidFill>
                  <a:srgbClr val="046A38"/>
                </a:solidFill>
              </a:rPr>
              <a:t>試作アプリ</a:t>
            </a:r>
          </a:p>
        </p:txBody>
      </p:sp>
      <p:sp>
        <p:nvSpPr>
          <p:cNvPr id="26" name="Oval 25"/>
          <p:cNvSpPr/>
          <p:nvPr/>
        </p:nvSpPr>
        <p:spPr>
          <a:xfrm>
            <a:off x="7114031" y="2331720"/>
            <a:ext cx="731520" cy="73152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1" lang="en-US" altLang="ja-JP" noProof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200400"/>
            <a:ext cx="2011680" cy="7315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業務画面</a:t>
            </a:r>
          </a:p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ダミーデータ</a:t>
            </a:r>
          </a:p>
        </p:txBody>
      </p:sp>
      <p:sp>
        <p:nvSpPr>
          <p:cNvPr id="28" name="Diamond 27"/>
          <p:cNvSpPr/>
          <p:nvPr/>
        </p:nvSpPr>
        <p:spPr>
          <a:xfrm>
            <a:off x="8174736" y="2313432"/>
            <a:ext cx="768096" cy="768096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lang="ja-JP" altLang="en-US" dirty="0">
                <a:solidFill>
                  <a:srgbClr val="FFFFFF"/>
                </a:solidFill>
              </a:rPr>
              <a:t>合意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58784" y="3108960"/>
            <a:ext cx="0" cy="1097280"/>
          </a:xfrm>
          <a:prstGeom prst="line">
            <a:avLst/>
          </a:prstGeom>
          <a:ln w="15875">
            <a:solidFill>
              <a:srgbClr val="046A3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598663" y="4206240"/>
            <a:ext cx="1920240" cy="868680"/>
          </a:xfrm>
          <a:prstGeom prst="rect">
            <a:avLst/>
          </a:prstGeom>
          <a:solidFill>
            <a:srgbClr val="F6F9F0"/>
          </a:solidFill>
          <a:ln w="15875">
            <a:solidFill>
              <a:srgbClr val="046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 tIns="73152" bIns="36576" wrap="square"/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画面一覧と閾値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215" y="1691640"/>
            <a:ext cx="2103120" cy="4114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800" b="1" lang="ja-JP" altLang="en-US" dirty="0">
                <a:solidFill>
                  <a:srgbClr val="046A38"/>
                </a:solidFill>
              </a:rPr>
              <a:t>資料</a:t>
            </a:r>
          </a:p>
        </p:txBody>
      </p:sp>
      <p:sp>
        <p:nvSpPr>
          <p:cNvPr id="32" name="Oval 31"/>
          <p:cNvSpPr/>
          <p:nvPr/>
        </p:nvSpPr>
        <p:spPr>
          <a:xfrm>
            <a:off x="9272015" y="2331720"/>
            <a:ext cx="731520" cy="73152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000" b="1" lang="en-US" altLang="ja-JP" noProof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6" y="3200400"/>
            <a:ext cx="2011680" cy="7315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説明資料</a:t>
            </a:r>
          </a:p>
        </p:txBody>
      </p:sp>
      <p:sp>
        <p:nvSpPr>
          <p:cNvPr id="34" name="Diamond 33"/>
          <p:cNvSpPr/>
          <p:nvPr/>
        </p:nvSpPr>
        <p:spPr>
          <a:xfrm>
            <a:off x="10332719" y="2313432"/>
            <a:ext cx="768096" cy="768096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lang="ja-JP" altLang="en-US" dirty="0">
                <a:solidFill>
                  <a:srgbClr val="FFFFFF"/>
                </a:solidFill>
              </a:rPr>
              <a:t>合意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716767" y="3108960"/>
            <a:ext cx="0" cy="1097280"/>
          </a:xfrm>
          <a:prstGeom prst="line">
            <a:avLst/>
          </a:prstGeom>
          <a:ln w="15875">
            <a:solidFill>
              <a:srgbClr val="046A3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756647" y="4206240"/>
            <a:ext cx="1920240" cy="868680"/>
          </a:xfrm>
          <a:prstGeom prst="rect">
            <a:avLst/>
          </a:prstGeom>
          <a:solidFill>
            <a:srgbClr val="F6F9F0"/>
          </a:solidFill>
          <a:ln w="15875">
            <a:solidFill>
              <a:srgbClr val="046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 tIns="73152" bIns="36576" wrap="square"/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ページ構成</a:t>
            </a:r>
          </a:p>
        </p:txBody>
      </p:sp>
      <p:sp>
        <p:nvSpPr>
          <p:cNvPr id="37" name="Diamond 36"/>
          <p:cNvSpPr/>
          <p:nvPr/>
        </p:nvSpPr>
        <p:spPr>
          <a:xfrm>
            <a:off x="521208" y="5596128"/>
            <a:ext cx="420624" cy="420624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5440680"/>
            <a:ext cx="1059789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800" b="1" lang="ja-JP" altLang="en-US" dirty="0">
                <a:solidFill>
                  <a:srgbClr val="046A38"/>
                </a:solidFill>
              </a:rPr>
              <a:t>人の合意が、次の段階に進む条件</a:t>
            </a:r>
            <a:r>
              <a:rPr sz="1400" b="0" lang="ja-JP" altLang="en-US" dirty="0">
                <a:solidFill>
                  <a:srgbClr val="666666"/>
                </a:solidFill>
              </a:rPr>
              <a:t>　確認方法は playbook/ の各段階に記載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6｜成果物の実物（段階1〜3）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ITマネジメント高度化では、事象62件の課題から領域別の To-Be像を描き、それを実現する84テーブル・786項目のデータ定義書まで作成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645920"/>
            <a:ext cx="2658618" cy="384048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l"/>
            <a:r>
              <a:rPr sz="1500" b="1" lang="ja-JP" altLang="en-US" dirty="0">
                <a:solidFill>
                  <a:srgbClr val="FFFFFF"/>
                </a:solidFill>
              </a:rPr>
              <a:t>1  事象と課題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5274" y="1645920"/>
            <a:ext cx="2658618" cy="384048"/>
          </a:xfrm>
          <a:prstGeom prst="roundRect">
            <a:avLst>
              <a:gd name="adj" fmla="val 50000"/>
            </a:avLst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l"/>
            <a:r>
              <a:rPr sz="1500" b="1" lang="ja-JP" altLang="en-US" dirty="0">
                <a:solidFill>
                  <a:srgbClr val="FFFFFF"/>
                </a:solidFill>
              </a:rPr>
              <a:t>2  To-Be像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45920"/>
            <a:ext cx="5518404" cy="384048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l"/>
            <a:r>
              <a:rPr sz="1500" b="1" lang="ja-JP" altLang="en-US" dirty="0">
                <a:solidFill>
                  <a:srgbClr val="FFFFFF"/>
                </a:solidFill>
              </a:rPr>
              <a:t>3  データモデル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194560"/>
            <a:ext cx="2658618" cy="2651760"/>
          </a:xfrm>
          <a:prstGeom prst="rect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_memo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2590154"/>
            <a:ext cx="2439162" cy="1860570"/>
          </a:xfrm>
          <a:prstGeom prst="rect">
            <a:avLst/>
          </a:prstGeom>
          <a:ln w="9525">
            <a:solidFill>
              <a:srgbClr val="D0D0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75488" y="4983480"/>
            <a:ext cx="2658618" cy="5029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2400" b="1" lang="ja-JP" altLang="en-US" dirty="0">
                <a:solidFill>
                  <a:srgbClr val="046A38"/>
                </a:solidFill>
              </a:rPr>
              <a:t>62件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5486400"/>
            <a:ext cx="2658618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現場の事象を8領域で整理し、課題と解きたい判断を導出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5274" y="2194560"/>
            <a:ext cx="2658618" cy="2651760"/>
          </a:xfrm>
          <a:prstGeom prst="rect">
            <a:avLst/>
          </a:prstGeom>
          <a:solidFill>
            <a:srgbClr val="F6F9F0"/>
          </a:solidFill>
          <a:ln w="38100">
            <a:solidFill>
              <a:srgbClr val="046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2_t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002" y="3056788"/>
            <a:ext cx="2439162" cy="927302"/>
          </a:xfrm>
          <a:prstGeom prst="rect">
            <a:avLst/>
          </a:prstGeom>
          <a:ln w="9525">
            <a:solidFill>
              <a:srgbClr val="D0D0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3335274" y="4983480"/>
            <a:ext cx="2658618" cy="5029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2400" b="1" lang="ja-JP" altLang="en-US" dirty="0">
                <a:solidFill>
                  <a:srgbClr val="046A38"/>
                </a:solidFill>
              </a:rPr>
              <a:t>8領域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5274" y="5486400"/>
            <a:ext cx="2658618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判断・データ・自動化の形で書いた領域別の To-Be像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5060" y="2194560"/>
            <a:ext cx="2658618" cy="2651760"/>
          </a:xfrm>
          <a:prstGeom prst="rect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2_concept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2586526"/>
            <a:ext cx="2439162" cy="1867826"/>
          </a:xfrm>
          <a:prstGeom prst="rect">
            <a:avLst/>
          </a:prstGeom>
          <a:ln w="9525">
            <a:solidFill>
              <a:srgbClr val="D0D0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195060" y="4983480"/>
            <a:ext cx="2658618" cy="5029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2400" b="1" lang="ja-JP" altLang="en-US" dirty="0">
                <a:solidFill>
                  <a:srgbClr val="046A38"/>
                </a:solidFill>
              </a:rPr>
              <a:t>領域ごとの図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5060" y="5486400"/>
            <a:ext cx="2658618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テーブルの親子関係を描いた概念データモデル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4846" y="2194560"/>
            <a:ext cx="2658618" cy="2651760"/>
          </a:xfrm>
          <a:prstGeom prst="rect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2_def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4574" y="2588949"/>
            <a:ext cx="2439162" cy="1862982"/>
          </a:xfrm>
          <a:prstGeom prst="rect">
            <a:avLst/>
          </a:prstGeom>
          <a:ln w="9525">
            <a:solidFill>
              <a:srgbClr val="D0D0CE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054846" y="4983480"/>
            <a:ext cx="2658618" cy="5029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2400" b="1" lang="ja-JP" altLang="en-US" dirty="0">
                <a:solidFill>
                  <a:srgbClr val="046A38"/>
                </a:solidFill>
              </a:rPr>
              <a:t>84テーブル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4846" y="5486400"/>
            <a:ext cx="2658618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786項目の型・キー・参照先まで定めたデータ定義書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7｜成果物の実物（段階4・5）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データ定義書から生成した器の上に、判断に必要な形の業務画面を業務の単位で作り、その画面を使って1件1ページの説明資料まで作成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645920"/>
            <a:ext cx="11237976" cy="384048"/>
          </a:xfrm>
          <a:prstGeom prst="roundRect">
            <a:avLst>
              <a:gd name="adj" fmla="val 50000"/>
            </a:avLst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l"/>
            <a:r>
              <a:rPr sz="1500" b="1" lang="ja-JP" altLang="en-US" dirty="0">
                <a:solidFill>
                  <a:srgbClr val="FFFFFF"/>
                </a:solidFill>
              </a:rPr>
              <a:t>4  試作アプリ（業務画面）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2148840"/>
            <a:ext cx="6400800" cy="3657600"/>
          </a:xfrm>
          <a:prstGeom prst="rect">
            <a:avLst/>
          </a:prstGeom>
          <a:solidFill>
            <a:srgbClr val="F6F9F0"/>
          </a:solidFill>
          <a:ln w="38100">
            <a:solidFill>
              <a:srgbClr val="046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4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68" y="2258568"/>
            <a:ext cx="5730240" cy="3438144"/>
          </a:xfrm>
          <a:prstGeom prst="rect">
            <a:avLst/>
          </a:prstGeom>
          <a:ln w="9525">
            <a:solidFill>
              <a:srgbClr val="D0D0C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75488" y="5897880"/>
            <a:ext cx="6400800" cy="4572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2600" b="1" lang="ja-JP" altLang="en-US" dirty="0">
                <a:solidFill>
                  <a:srgbClr val="046A38"/>
                </a:solidFill>
              </a:rPr>
              <a:t>9画面</a:t>
            </a:r>
            <a:r>
              <a:rPr sz="1400" b="0" lang="ja-JP" altLang="en-US" dirty="0">
                <a:solidFill>
                  <a:srgbClr val="222222"/>
                </a:solidFill>
              </a:rPr>
              <a:t>　定義書から生成した器の上に、業務の単位で作成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6327" y="2148840"/>
            <a:ext cx="2606040" cy="1600200"/>
          </a:xfrm>
          <a:prstGeom prst="rect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4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727" y="2258568"/>
            <a:ext cx="2301240" cy="1380744"/>
          </a:xfrm>
          <a:prstGeom prst="rect">
            <a:avLst/>
          </a:prstGeom>
          <a:ln w="9525">
            <a:solidFill>
              <a:srgbClr val="D0D0CE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939528" y="2194560"/>
            <a:ext cx="1773936" cy="1554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判断が必要な事項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見直し候補の自動抽出と推奨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96327" y="4023360"/>
            <a:ext cx="4517136" cy="384048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l"/>
            <a:r>
              <a:rPr sz="1500" b="1" lang="ja-JP" altLang="en-US" dirty="0">
                <a:solidFill>
                  <a:srgbClr val="FFFFFF"/>
                </a:solidFill>
              </a:rPr>
              <a:t>5  資料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6327" y="4526280"/>
            <a:ext cx="2606040" cy="1600200"/>
          </a:xfrm>
          <a:prstGeom prst="rect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5_d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5" y="4655153"/>
            <a:ext cx="2386584" cy="1342453"/>
          </a:xfrm>
          <a:prstGeom prst="rect">
            <a:avLst/>
          </a:prstGeom>
          <a:ln w="9525">
            <a:solidFill>
              <a:srgbClr val="D0D0C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9939528" y="4572000"/>
            <a:ext cx="1773936" cy="1554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2000" b="1" lang="ja-JP" altLang="en-US" dirty="0">
                <a:solidFill>
                  <a:srgbClr val="046A38"/>
                </a:solidFill>
              </a:rPr>
              <a:t>1件1ページ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データ → ロジック → 画面の順に説明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8｜プロジェクトの立上げ手順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ひな型からリポジトリを作り、メンバー・環境・初期設定を整えたうえで、手順書の第1段階から AI に依頼する立上げの手順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5257800"/>
            <a:ext cx="1827276" cy="914400"/>
          </a:xfrm>
          <a:prstGeom prst="rect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73152" tIns="0" bIns="0" wrap="square"/>
          <a:lstStyle/>
          <a:p>
            <a:pPr algn="ctr"/>
            <a:r>
              <a:rPr sz="2800" b="1" lang="en-US" altLang="ja-JP" noProof="1" dirty="0">
                <a:solidFill>
                  <a:srgbClr val="26890D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069080"/>
            <a:ext cx="1827276" cy="11430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リポジトリの作成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「Use this template」で private のリポジトリ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7628" y="4892040"/>
            <a:ext cx="1827276" cy="1280160"/>
          </a:xfrm>
          <a:prstGeom prst="rect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73152" tIns="0" bIns="0" wrap="square"/>
          <a:lstStyle/>
          <a:p>
            <a:pPr algn="ctr"/>
            <a:r>
              <a:rPr sz="2800" b="1" lang="en-US" altLang="ja-JP" noProof="1" dirty="0">
                <a:solidFill>
                  <a:srgbClr val="26890D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7628" y="3703320"/>
            <a:ext cx="1827276" cy="11430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メンバーの追加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チームに Write の権限。Copilot は各自のライセンス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9768" y="4526280"/>
            <a:ext cx="1827276" cy="1645920"/>
          </a:xfrm>
          <a:prstGeom prst="rect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73152" tIns="0" bIns="0" wrap="square"/>
          <a:lstStyle/>
          <a:p>
            <a:pPr algn="ctr"/>
            <a:r>
              <a:rPr sz="2800" b="1" lang="en-US" altLang="ja-JP" noProof="1" dirty="0">
                <a:solidFill>
                  <a:srgbClr val="26890D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9768" y="3337560"/>
            <a:ext cx="1827276" cy="11430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環境の準備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clone・pip install・check_all.py の全 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1907" y="4160520"/>
            <a:ext cx="1827276" cy="2011680"/>
          </a:xfrm>
          <a:prstGeom prst="rect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73152" tIns="0" bIns="0" wrap="square"/>
          <a:lstStyle/>
          <a:p>
            <a:pPr algn="ctr"/>
            <a:r>
              <a:rPr sz="2800" b="1" lang="en-US" altLang="ja-JP" noProof="1" dirty="0">
                <a:solidFill>
                  <a:srgbClr val="26890D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1907" y="2971800"/>
            <a:ext cx="1827276" cy="11430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初期設定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README とシステム名の変更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4047" y="3794760"/>
            <a:ext cx="1827276" cy="237744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73152" tIns="0" bIns="0" wrap="square"/>
          <a:lstStyle/>
          <a:p>
            <a:pPr algn="ctr"/>
            <a:r>
              <a:rPr sz="2800" b="1" lang="en-US" altLang="ja-JP" noProof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4047" y="2606040"/>
            <a:ext cx="1827276" cy="11430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AI への最初の依頼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手順書の第1段階からの依頼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86188" y="3429000"/>
            <a:ext cx="1827276" cy="2743200"/>
          </a:xfrm>
          <a:prstGeom prst="rect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73152" tIns="0" bIns="0" wrap="square"/>
          <a:lstStyle/>
          <a:p>
            <a:pPr algn="ctr"/>
            <a:r>
              <a:rPr sz="2800" b="1" lang="en-US" altLang="ja-JP" noProof="1" dirty="0">
                <a:solidFill>
                  <a:srgbClr val="26890D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86188" y="2240280"/>
            <a:ext cx="1827276" cy="11430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サンプルの削除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自分の定義書と画面の完成後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475488" y="1645920"/>
            <a:ext cx="6812280" cy="777240"/>
          </a:xfrm>
          <a:prstGeom prst="wedgeRoundRectCallout">
            <a:avLst>
              <a:gd name="adj1" fmla="val 60000"/>
              <a:gd name="adj2" fmla="val 85000"/>
              <a:gd name="adj3" fmla="val 16667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45720" tIns="182880" wrap="square"/>
          <a:lstStyle/>
          <a:p>
            <a:pPr algn="ctr"/>
            <a:r>
              <a:rPr sz="1600" b="1" lang="ja-JP" altLang="en-US" dirty="0">
                <a:solidFill>
                  <a:srgbClr val="FFFFFF"/>
                </a:solidFill>
              </a:rPr>
              <a:t>「playbook に沿って、1. 事象と課題から始めたい。テーマは〜」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9｜AI への依頼の型（段階1〜3）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段階ごとに範囲・成果物の単位・確認方法・止める所を伝える依頼の型で、AI の先走りと手戻りを防止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2395728" y="1636776"/>
            <a:ext cx="420624" cy="420624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40751" y="1693468"/>
            <a:ext cx="130576" cy="130576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2490825" y="1839407"/>
            <a:ext cx="230428" cy="153619"/>
          </a:xfrm>
          <a:prstGeom prst="round2Same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45920"/>
            <a:ext cx="365760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依頼の例</a:t>
            </a:r>
            <a:r>
              <a:rPr sz="1400" b="0" lang="ja-JP" altLang="en-US" dirty="0">
                <a:solidFill>
                  <a:srgbClr val="666666"/>
                </a:solidFill>
              </a:rPr>
              <a:t>（〈〉は差し替える部分）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645920"/>
            <a:ext cx="274320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伝えること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624327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0" tIns="73152" bIns="0" wrap="square"/>
          <a:lstStyle/>
          <a:p>
            <a:pPr algn="l"/>
            <a:r>
              <a:rPr sz="1400" b="1" lang="ja-JP" altLang="en-US" dirty="0">
                <a:solidFill>
                  <a:srgbClr val="FFFFFF"/>
                </a:solidFill>
              </a:rPr>
              <a:t>1  事象と課題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0" y="2194560"/>
            <a:ext cx="6172200" cy="1280160"/>
          </a:xfrm>
          <a:prstGeom prst="wedgeRoundRectCallout">
            <a:avLst>
              <a:gd name="adj1" fmla="val -54000"/>
              <a:gd name="adj2" fmla="val 0"/>
              <a:gd name="adj3" fmla="val 16667"/>
            </a:avLst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54864" tIns="137160" bIns="54864" wrap="square"/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「playbook の『1. 事象と課題』で進めたい。テーマは</a:t>
            </a:r>
            <a:r>
              <a:rPr sz="1400" b="1" lang="ja-JP" altLang="en-US" dirty="0">
                <a:solidFill>
                  <a:srgbClr val="26890D"/>
                </a:solidFill>
              </a:rPr>
              <a:t>〈テーマ〉</a:t>
            </a:r>
            <a:r>
              <a:rPr sz="1400" b="0" lang="ja-JP" altLang="en-US" dirty="0">
                <a:solidFill>
                  <a:srgbClr val="222222"/>
                </a:solidFill>
              </a:rPr>
              <a:t>、対象は</a:t>
            </a:r>
            <a:r>
              <a:rPr sz="1400" b="1" lang="ja-JP" altLang="en-US" dirty="0">
                <a:solidFill>
                  <a:srgbClr val="26890D"/>
                </a:solidFill>
              </a:rPr>
              <a:t>〈業務・組織〉</a:t>
            </a:r>
            <a:r>
              <a:rPr sz="1400" b="0" lang="ja-JP" altLang="en-US" dirty="0">
                <a:solidFill>
                  <a:srgbClr val="222222"/>
                </a:solidFill>
              </a:rPr>
              <a:t>。気づいていない事象の候補を領域ごとに出してほしい。起きているかは私が答える。To-Be像にはまだ進まないで」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75827" y="2459736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766352" y="2359152"/>
            <a:ext cx="165964" cy="196138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52560" y="2304288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対象の範囲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75827" y="2843784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766352" y="2743200"/>
            <a:ext cx="165964" cy="196138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52560" y="2688336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候補を出させ、人が答える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75827" y="3227832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66352" y="3127248"/>
            <a:ext cx="165964" cy="196138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52560" y="3072384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先に進ませない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4069079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0" tIns="73152" bIns="0" wrap="square"/>
          <a:lstStyle/>
          <a:p>
            <a:pPr algn="l"/>
            <a:r>
              <a:rPr sz="1400" b="1" lang="ja-JP" altLang="en-US" dirty="0">
                <a:solidFill>
                  <a:srgbClr val="FFFFFF"/>
                </a:solidFill>
              </a:rPr>
              <a:t>2  To-Be像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2286000" y="3639312"/>
            <a:ext cx="6172200" cy="1280160"/>
          </a:xfrm>
          <a:prstGeom prst="wedgeRoundRectCallout">
            <a:avLst>
              <a:gd name="adj1" fmla="val -54000"/>
              <a:gd name="adj2" fmla="val 0"/>
              <a:gd name="adj3" fmla="val 16667"/>
            </a:avLst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54864" tIns="137160" bIns="54864" wrap="square"/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「私が実現したいことは</a:t>
            </a:r>
            <a:r>
              <a:rPr sz="1400" b="1" lang="ja-JP" altLang="en-US" dirty="0">
                <a:solidFill>
                  <a:srgbClr val="26890D"/>
                </a:solidFill>
              </a:rPr>
              <a:t>〈実現したいこと〉</a:t>
            </a:r>
            <a:r>
              <a:rPr sz="1400" b="0" lang="ja-JP" altLang="en-US" dirty="0">
                <a:solidFill>
                  <a:srgbClr val="222222"/>
                </a:solidFill>
              </a:rPr>
              <a:t>。合意した課題と目指す姿を突き合わせて、領域ごとの To-Be像を『どの判断を、どのデータで、どう自動化するか』の形で書いて。データモデルにはまだ進まないで」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75827" y="3904487"/>
            <a:ext cx="90525" cy="95555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766352" y="3803903"/>
            <a:ext cx="165964" cy="196139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52560" y="3749039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実現したいこと（人が示す）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75827" y="4288536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766352" y="4187951"/>
            <a:ext cx="165964" cy="196139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52560" y="4133087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判断・データ・自動化の形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75827" y="4672583"/>
            <a:ext cx="90525" cy="95555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766352" y="4571999"/>
            <a:ext cx="165964" cy="196139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52560" y="4517136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先に進ませない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" y="551383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0" tIns="73152" bIns="0" wrap="square"/>
          <a:lstStyle/>
          <a:p>
            <a:pPr algn="l"/>
            <a:r>
              <a:rPr sz="1400" b="1" lang="ja-JP" altLang="en-US" dirty="0">
                <a:solidFill>
                  <a:srgbClr val="FFFFFF"/>
                </a:solidFill>
              </a:rPr>
              <a:t>3  データモデル</a:t>
            </a:r>
          </a:p>
        </p:txBody>
      </p:sp>
      <p:sp>
        <p:nvSpPr>
          <p:cNvPr id="34" name="Rounded Rectangular Callout 33"/>
          <p:cNvSpPr/>
          <p:nvPr/>
        </p:nvSpPr>
        <p:spPr>
          <a:xfrm>
            <a:off x="2286000" y="5084064"/>
            <a:ext cx="6172200" cy="1280160"/>
          </a:xfrm>
          <a:prstGeom prst="wedgeRoundRectCallout">
            <a:avLst>
              <a:gd name="adj1" fmla="val -54000"/>
              <a:gd name="adj2" fmla="val 0"/>
              <a:gd name="adj3" fmla="val 16667"/>
            </a:avLst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54864" tIns="137160" bIns="54864" wrap="square"/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「合意した To-Be像から、データ定義書のテーブル一覧を作って。各テーブルに層・1行の単位・正とする所を書き、項目はキーだけでよい。definition.py check で誤り0件にしてから見せて」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75827" y="5349240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66352" y="5248656"/>
            <a:ext cx="165964" cy="196138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052560" y="5193792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テーブル単位から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675827" y="5733288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66352" y="5632704"/>
            <a:ext cx="165964" cy="196138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052560" y="5577840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書いてほしい欄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75827" y="6117336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66352" y="6016752"/>
            <a:ext cx="165964" cy="196138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052560" y="5961888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確認方法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10｜AI への依頼の型（段階4・5と共通の一言）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試作アプリは判断する人と判断から、資料は会議の段階から頼み、どの段階でもルールの読み込みと結果の原文での報告を添える依頼の型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2395728" y="1636776"/>
            <a:ext cx="420624" cy="420624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40751" y="1693468"/>
            <a:ext cx="130576" cy="130576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2490825" y="1839407"/>
            <a:ext cx="230428" cy="153619"/>
          </a:xfrm>
          <a:prstGeom prst="round2Same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45920"/>
            <a:ext cx="365760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依頼の例</a:t>
            </a:r>
            <a:r>
              <a:rPr sz="1400" b="0" lang="ja-JP" altLang="en-US" dirty="0">
                <a:solidFill>
                  <a:srgbClr val="666666"/>
                </a:solidFill>
              </a:rPr>
              <a:t>（〈〉は差し替える部分）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645920"/>
            <a:ext cx="2743200" cy="4114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伝えること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624327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0" tIns="73152" bIns="0" wrap="square"/>
          <a:lstStyle/>
          <a:p>
            <a:pPr algn="l"/>
            <a:r>
              <a:rPr sz="1400" b="1" lang="ja-JP" altLang="en-US" dirty="0">
                <a:solidFill>
                  <a:srgbClr val="FFFFFF"/>
                </a:solidFill>
              </a:rPr>
              <a:t>4  試作アプリ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0" y="2194560"/>
            <a:ext cx="6172200" cy="1280160"/>
          </a:xfrm>
          <a:prstGeom prst="wedgeRoundRectCallout">
            <a:avLst>
              <a:gd name="adj1" fmla="val -54000"/>
              <a:gd name="adj2" fmla="val 0"/>
              <a:gd name="adj3" fmla="val 16667"/>
            </a:avLst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54864" tIns="137160" bIns="54864" wrap="square"/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「定義書から器を作ったうえで、</a:t>
            </a:r>
            <a:r>
              <a:rPr sz="1400" b="1" lang="ja-JP" altLang="en-US" dirty="0">
                <a:solidFill>
                  <a:srgbClr val="26890D"/>
                </a:solidFill>
              </a:rPr>
              <a:t>〈業務〉</a:t>
            </a:r>
            <a:r>
              <a:rPr sz="1400" b="0" lang="ja-JP" altLang="en-US" dirty="0">
                <a:solidFill>
                  <a:srgbClr val="222222"/>
                </a:solidFill>
              </a:rPr>
              <a:t>で</a:t>
            </a:r>
            <a:r>
              <a:rPr sz="1400" b="1" lang="ja-JP" altLang="en-US" dirty="0">
                <a:solidFill>
                  <a:srgbClr val="26890D"/>
                </a:solidFill>
              </a:rPr>
              <a:t>〈誰〉</a:t>
            </a:r>
            <a:r>
              <a:rPr sz="1400" b="0" lang="ja-JP" altLang="en-US" dirty="0">
                <a:solidFill>
                  <a:srgbClr val="222222"/>
                </a:solidFill>
              </a:rPr>
              <a:t>が</a:t>
            </a:r>
            <a:r>
              <a:rPr sz="1400" b="1" lang="ja-JP" altLang="en-US" dirty="0">
                <a:solidFill>
                  <a:srgbClr val="26890D"/>
                </a:solidFill>
              </a:rPr>
              <a:t>〈何〉</a:t>
            </a:r>
            <a:r>
              <a:rPr sz="1400" b="0" lang="ja-JP" altLang="en-US" dirty="0">
                <a:solidFill>
                  <a:srgbClr val="222222"/>
                </a:solidFill>
              </a:rPr>
              <a:t>を判断する画面を作りたい。まず画面一覧（使う人・場面・判断）を出して。画面には問い・診断・原因・推奨を置き、判定が出るダミーデータも作って。定義書に無いデータは仮置きして一覧にして」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75827" y="2459736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766352" y="2359152"/>
            <a:ext cx="165964" cy="196138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52560" y="2304288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判断する人と判断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75827" y="2843784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766352" y="2743200"/>
            <a:ext cx="165964" cy="196138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52560" y="2688336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画面一覧を先に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75827" y="3227832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66352" y="3127248"/>
            <a:ext cx="165964" cy="196138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52560" y="3072384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不足の一覧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4069079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0" tIns="73152" bIns="0" wrap="square"/>
          <a:lstStyle/>
          <a:p>
            <a:pPr algn="l"/>
            <a:r>
              <a:rPr sz="1400" b="1" lang="ja-JP" altLang="en-US" dirty="0">
                <a:solidFill>
                  <a:srgbClr val="FFFFFF"/>
                </a:solidFill>
              </a:rPr>
              <a:t>5  資料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2286000" y="3639312"/>
            <a:ext cx="6172200" cy="1280160"/>
          </a:xfrm>
          <a:prstGeom prst="wedgeRoundRectCallout">
            <a:avLst>
              <a:gd name="adj1" fmla="val -54000"/>
              <a:gd name="adj2" fmla="val 0"/>
              <a:gd name="adj3" fmla="val 16667"/>
            </a:avLst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54864" tIns="137160" bIns="54864" wrap="square"/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「</a:t>
            </a:r>
            <a:r>
              <a:rPr sz="1400" b="1" lang="ja-JP" altLang="en-US" dirty="0">
                <a:solidFill>
                  <a:srgbClr val="26890D"/>
                </a:solidFill>
              </a:rPr>
              <a:t>〈会議〉</a:t>
            </a:r>
            <a:r>
              <a:rPr sz="1400" b="0" lang="ja-JP" altLang="en-US" dirty="0">
                <a:solidFill>
                  <a:srgbClr val="222222"/>
                </a:solidFill>
              </a:rPr>
              <a:t>は</a:t>
            </a:r>
            <a:r>
              <a:rPr sz="1400" b="1" lang="ja-JP" altLang="en-US" dirty="0">
                <a:solidFill>
                  <a:srgbClr val="26890D"/>
                </a:solidFill>
              </a:rPr>
              <a:t>〈イメージ合わせ〉</a:t>
            </a:r>
            <a:r>
              <a:rPr sz="1400" b="0" lang="ja-JP" altLang="en-US" dirty="0">
                <a:solidFill>
                  <a:srgbClr val="222222"/>
                </a:solidFill>
              </a:rPr>
              <a:t>の段階。rules の資料の書き方を全部読んでから、各ページのリード文だけの構成案を先に出して。体裁は docs の</a:t>
            </a:r>
            <a:r>
              <a:rPr sz="1400" b="1" lang="ja-JP" altLang="en-US" dirty="0">
                <a:solidFill>
                  <a:srgbClr val="26890D"/>
                </a:solidFill>
              </a:rPr>
              <a:t>〈テンプレート〉</a:t>
            </a:r>
            <a:r>
              <a:rPr sz="1400" b="0" lang="ja-JP" altLang="en-US" dirty="0">
                <a:solidFill>
                  <a:srgbClr val="222222"/>
                </a:solidFill>
              </a:rPr>
              <a:t>に合わせ、作ったら全ページを PNG で確かめて」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75827" y="3904487"/>
            <a:ext cx="90525" cy="95555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766352" y="3803903"/>
            <a:ext cx="165964" cy="196139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52560" y="3749039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会議の段階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75827" y="4288536"/>
            <a:ext cx="90525" cy="95554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766352" y="4187951"/>
            <a:ext cx="165964" cy="196139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52560" y="4133087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構成案を先に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75827" y="4672583"/>
            <a:ext cx="90525" cy="95555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766352" y="4571999"/>
            <a:ext cx="165964" cy="196139"/>
          </a:xfrm>
          <a:prstGeom prst="line">
            <a:avLst/>
          </a:prstGeom>
          <a:ln w="31432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52560" y="4517136"/>
            <a:ext cx="266090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体裁と確認方法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5166360"/>
            <a:ext cx="11237976" cy="114300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166360"/>
            <a:ext cx="2103120" cy="11430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FFFFFF"/>
                </a:solidFill>
              </a:rPr>
              <a:t>どの段階でも</a:t>
            </a:r>
          </a:p>
          <a:p>
            <a:pPr algn="l"/>
            <a:r>
              <a:rPr sz="1600" b="1" lang="ja-JP" altLang="en-US" dirty="0">
                <a:solidFill>
                  <a:srgbClr val="FFFFFF"/>
                </a:solidFill>
              </a:rPr>
              <a:t>添える一言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61488" y="5303520"/>
            <a:ext cx="28315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 tIns="109728" bIns="36576" wrap="square"/>
          <a:lstStyle/>
          <a:p>
            <a:pPr algn="ctr"/>
            <a:r>
              <a:rPr sz="1400" b="1" lang="ja-JP" altLang="en-US" dirty="0">
                <a:solidFill>
                  <a:srgbClr val="046A38"/>
                </a:solidFill>
              </a:rPr>
              <a:t>「作業の前に rules/README.md と</a:t>
            </a:r>
          </a:p>
          <a:p>
            <a:pPr algn="ctr"/>
            <a:r>
              <a:rPr sz="1400" b="1" lang="ja-JP" altLang="en-US" dirty="0">
                <a:solidFill>
                  <a:srgbClr val="046A38"/>
                </a:solidFill>
              </a:rPr>
              <a:t>関係するルールを読んで」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75960" y="5303520"/>
            <a:ext cx="28315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 tIns="109728" bIns="36576" wrap="square"/>
          <a:lstStyle/>
          <a:p>
            <a:pPr algn="ctr"/>
            <a:r>
              <a:rPr sz="1400" b="1" lang="ja-JP" altLang="en-US" dirty="0">
                <a:solidFill>
                  <a:srgbClr val="046A38"/>
                </a:solidFill>
              </a:rPr>
              <a:t>「終わったら check_all.py の結果を</a:t>
            </a:r>
          </a:p>
          <a:p>
            <a:pPr algn="ctr"/>
            <a:r>
              <a:rPr sz="1400" b="1" lang="ja-JP" altLang="en-US" dirty="0">
                <a:solidFill>
                  <a:srgbClr val="046A38"/>
                </a:solidFill>
              </a:rPr>
              <a:t>そのまま報告して」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90432" y="5303520"/>
            <a:ext cx="28315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 tIns="109728" bIns="36576" wrap="square"/>
          <a:lstStyle/>
          <a:p>
            <a:pPr algn="ctr"/>
            <a:r>
              <a:rPr sz="1400" b="1" lang="ja-JP" altLang="en-US" dirty="0">
                <a:solidFill>
                  <a:srgbClr val="046A38"/>
                </a:solidFill>
              </a:rPr>
              <a:t>「今の指摘を、理由つきで</a:t>
            </a:r>
          </a:p>
          <a:p>
            <a:pPr algn="ctr"/>
            <a:r>
              <a:rPr sz="1400" b="1" lang="ja-JP" altLang="en-US" dirty="0">
                <a:solidFill>
                  <a:srgbClr val="046A38"/>
                </a:solidFill>
              </a:rPr>
              <a:t>rules/ に書いて」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11｜人と AI の役割分担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業務の判断は人が決め、作成と確認は AI が担う役割分担により、AI のもっともらしい決定による手戻りを防止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3771900" y="1668779"/>
            <a:ext cx="868680" cy="86868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66336" y="1773935"/>
            <a:ext cx="279806" cy="279806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959352" y="2086660"/>
            <a:ext cx="493776" cy="329184"/>
          </a:xfrm>
          <a:prstGeom prst="round2Same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828800"/>
            <a:ext cx="324612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/>
            <a:r>
              <a:rPr sz="2400" b="1" lang="ja-JP" altLang="en-US" dirty="0">
                <a:solidFill>
                  <a:srgbClr val="046A38"/>
                </a:solidFill>
              </a:rPr>
              <a:t>人：決める</a:t>
            </a:r>
          </a:p>
        </p:txBody>
      </p:sp>
      <p:sp>
        <p:nvSpPr>
          <p:cNvPr id="10" name="Oval 9"/>
          <p:cNvSpPr/>
          <p:nvPr/>
        </p:nvSpPr>
        <p:spPr>
          <a:xfrm>
            <a:off x="7520940" y="1668779"/>
            <a:ext cx="868680" cy="86868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39735" y="1745589"/>
            <a:ext cx="31089" cy="108813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00873" y="1683410"/>
            <a:ext cx="108813" cy="108813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75473" y="1846630"/>
            <a:ext cx="559612" cy="466344"/>
          </a:xfrm>
          <a:prstGeom prst="roundRect">
            <a:avLst>
              <a:gd name="adj" fmla="val 25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lang="en-US" altLang="ja-JP" noProof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828800"/>
            <a:ext cx="32004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2400" b="1" lang="ja-JP" altLang="en-US" dirty="0">
                <a:solidFill>
                  <a:srgbClr val="26890D"/>
                </a:solidFill>
              </a:rPr>
              <a:t>AI：作る・確かめる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" y="3374136"/>
            <a:ext cx="11237976" cy="0"/>
          </a:xfrm>
          <a:prstGeom prst="line">
            <a:avLst/>
          </a:prstGeom>
          <a:ln w="12700">
            <a:solidFill>
              <a:srgbClr val="ECF4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37760" y="2889504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lang="ja-JP" altLang="en-US" dirty="0">
                <a:solidFill>
                  <a:srgbClr val="FFFFFF"/>
                </a:solidFill>
              </a:rPr>
              <a:t>事象と課題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834640"/>
            <a:ext cx="4279392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/>
            <a:r>
              <a:rPr sz="1400" b="0" lang="ja-JP" altLang="en-US" dirty="0">
                <a:solidFill>
                  <a:srgbClr val="222222"/>
                </a:solidFill>
              </a:rPr>
              <a:t>事象の有無の回答、課題と判断の合意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834640"/>
            <a:ext cx="4306824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事象の候補の提示、目指す姿の仮置き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488" y="3941064"/>
            <a:ext cx="11237976" cy="0"/>
          </a:xfrm>
          <a:prstGeom prst="line">
            <a:avLst/>
          </a:prstGeom>
          <a:ln w="12700">
            <a:solidFill>
              <a:srgbClr val="ECF4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937760" y="3456432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lang="ja-JP" altLang="en-US" dirty="0">
                <a:solidFill>
                  <a:srgbClr val="FFFFFF"/>
                </a:solidFill>
              </a:rPr>
              <a:t>To-Be像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401568"/>
            <a:ext cx="4279392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/>
            <a:r>
              <a:rPr sz="1400" b="0" lang="ja-JP" altLang="en-US" dirty="0">
                <a:solidFill>
                  <a:srgbClr val="222222"/>
                </a:solidFill>
              </a:rPr>
              <a:t>実現したいことの提示、To-Be像の合意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401568"/>
            <a:ext cx="4306824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To-Be像の案の作成、目指す姿との突き合わせ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488" y="4507992"/>
            <a:ext cx="11237976" cy="0"/>
          </a:xfrm>
          <a:prstGeom prst="line">
            <a:avLst/>
          </a:prstGeom>
          <a:ln w="12700">
            <a:solidFill>
              <a:srgbClr val="ECF4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37760" y="4023359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lang="ja-JP" altLang="en-US" dirty="0">
                <a:solidFill>
                  <a:srgbClr val="FFFFFF"/>
                </a:solidFill>
              </a:rPr>
              <a:t>データモデル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968496"/>
            <a:ext cx="4279392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/>
            <a:r>
              <a:rPr sz="1400" b="0" lang="ja-JP" altLang="en-US" dirty="0">
                <a:solidFill>
                  <a:srgbClr val="222222"/>
                </a:solidFill>
              </a:rPr>
              <a:t>テーブルの切り方・1行の単位・正とする所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968496"/>
            <a:ext cx="4306824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定義書の作成・点検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5488" y="5074920"/>
            <a:ext cx="11237976" cy="0"/>
          </a:xfrm>
          <a:prstGeom prst="line">
            <a:avLst/>
          </a:prstGeom>
          <a:ln w="12700">
            <a:solidFill>
              <a:srgbClr val="ECF4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937760" y="4590288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lang="ja-JP" altLang="en-US" dirty="0">
                <a:solidFill>
                  <a:srgbClr val="FFFFFF"/>
                </a:solidFill>
              </a:rPr>
              <a:t>試作アプリ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535424"/>
            <a:ext cx="4279392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/>
            <a:r>
              <a:rPr sz="1400" b="0" lang="ja-JP" altLang="en-US" dirty="0">
                <a:solidFill>
                  <a:srgbClr val="222222"/>
                </a:solidFill>
              </a:rPr>
              <a:t>画面一覧・閾値・判断の読み取りやすさ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535424"/>
            <a:ext cx="4306824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器の生成、計算・画面・ダミーデータの実装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5488" y="5641848"/>
            <a:ext cx="11237976" cy="0"/>
          </a:xfrm>
          <a:prstGeom prst="line">
            <a:avLst/>
          </a:prstGeom>
          <a:ln w="12700">
            <a:solidFill>
              <a:srgbClr val="ECF4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37760" y="5157216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lang="ja-JP" altLang="en-US" dirty="0">
                <a:solidFill>
                  <a:srgbClr val="FFFFFF"/>
                </a:solidFill>
              </a:rPr>
              <a:t>資料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102352"/>
            <a:ext cx="4279392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/>
            <a:r>
              <a:rPr sz="1400" b="0" lang="ja-JP" altLang="en-US" dirty="0">
                <a:solidFill>
                  <a:srgbClr val="222222"/>
                </a:solidFill>
              </a:rPr>
              <a:t>会議の段階・ページ構成・色の使用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102352"/>
            <a:ext cx="4306824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スクリプトでの作成、PNG での確認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5488" y="6208776"/>
            <a:ext cx="11237976" cy="0"/>
          </a:xfrm>
          <a:prstGeom prst="line">
            <a:avLst/>
          </a:prstGeom>
          <a:ln w="12700">
            <a:solidFill>
              <a:srgbClr val="ECF4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937760" y="5724144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lang="ja-JP" altLang="en-US" dirty="0">
                <a:solidFill>
                  <a:srgbClr val="FFFFFF"/>
                </a:solidFill>
              </a:rPr>
              <a:t>全段階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5669280"/>
            <a:ext cx="4279392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/>
            <a:r>
              <a:rPr sz="1400" b="0" lang="ja-JP" altLang="en-US" dirty="0">
                <a:solidFill>
                  <a:srgbClr val="222222"/>
                </a:solidFill>
              </a:rPr>
              <a:t>削除・外部送信の可否、指摘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669280"/>
            <a:ext cx="4306824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確認結果の原文での報告、指摘のルール化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12｜品質を守るために人が押さえるポイント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AI の出来を左右するのは人のレビューであり、段階の飛ばし・単位の曖昧さ・判断の丸投げ・確認の省略を止める6つの点検ポイント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2514600"/>
            <a:ext cx="8778240" cy="0"/>
          </a:xfrm>
          <a:prstGeom prst="line">
            <a:avLst/>
          </a:prstGeom>
          <a:ln w="5080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71016" y="2322576"/>
            <a:ext cx="384048" cy="384048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70632"/>
            <a:ext cx="201168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1" lang="ja-JP" altLang="en-US" dirty="0">
                <a:solidFill>
                  <a:srgbClr val="26890D"/>
                </a:solidFill>
              </a:rPr>
              <a:t>事象と課題</a:t>
            </a:r>
          </a:p>
        </p:txBody>
      </p:sp>
      <p:sp>
        <p:nvSpPr>
          <p:cNvPr id="9" name="Oval 8"/>
          <p:cNvSpPr/>
          <p:nvPr/>
        </p:nvSpPr>
        <p:spPr>
          <a:xfrm>
            <a:off x="3465576" y="2322576"/>
            <a:ext cx="384048" cy="384048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770632"/>
            <a:ext cx="201168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1" lang="ja-JP" altLang="en-US" dirty="0">
                <a:solidFill>
                  <a:srgbClr val="26890D"/>
                </a:solidFill>
              </a:rPr>
              <a:t>To-Be像</a:t>
            </a:r>
          </a:p>
        </p:txBody>
      </p:sp>
      <p:sp>
        <p:nvSpPr>
          <p:cNvPr id="11" name="Oval 10"/>
          <p:cNvSpPr/>
          <p:nvPr/>
        </p:nvSpPr>
        <p:spPr>
          <a:xfrm>
            <a:off x="5660136" y="2322576"/>
            <a:ext cx="384048" cy="384048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70632"/>
            <a:ext cx="201168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1" lang="ja-JP" altLang="en-US" dirty="0">
                <a:solidFill>
                  <a:srgbClr val="26890D"/>
                </a:solidFill>
              </a:rPr>
              <a:t>データモデル</a:t>
            </a:r>
          </a:p>
        </p:txBody>
      </p:sp>
      <p:sp>
        <p:nvSpPr>
          <p:cNvPr id="13" name="Oval 12"/>
          <p:cNvSpPr/>
          <p:nvPr/>
        </p:nvSpPr>
        <p:spPr>
          <a:xfrm>
            <a:off x="7854695" y="2322576"/>
            <a:ext cx="384048" cy="384048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79" y="2770632"/>
            <a:ext cx="201168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1" lang="ja-JP" altLang="en-US" dirty="0">
                <a:solidFill>
                  <a:srgbClr val="26890D"/>
                </a:solidFill>
              </a:rPr>
              <a:t>試作アプリ</a:t>
            </a:r>
          </a:p>
        </p:txBody>
      </p:sp>
      <p:sp>
        <p:nvSpPr>
          <p:cNvPr id="15" name="Oval 14"/>
          <p:cNvSpPr/>
          <p:nvPr/>
        </p:nvSpPr>
        <p:spPr>
          <a:xfrm>
            <a:off x="10049255" y="2322576"/>
            <a:ext cx="384048" cy="384048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770632"/>
            <a:ext cx="201168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ctr"/>
            <a:r>
              <a:rPr sz="1400" b="1" lang="ja-JP" altLang="en-US" dirty="0">
                <a:solidFill>
                  <a:srgbClr val="26890D"/>
                </a:solidFill>
              </a:rPr>
              <a:t>資料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0" y="2057400"/>
            <a:ext cx="0" cy="274320"/>
          </a:xfrm>
          <a:prstGeom prst="line">
            <a:avLst/>
          </a:prstGeom>
          <a:ln w="25400">
            <a:solidFill>
              <a:srgbClr val="046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17136" y="1591056"/>
            <a:ext cx="475488" cy="47548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2057400"/>
            <a:ext cx="0" cy="274320"/>
          </a:xfrm>
          <a:prstGeom prst="line">
            <a:avLst/>
          </a:prstGeom>
          <a:ln w="25400">
            <a:solidFill>
              <a:srgbClr val="046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614416" y="1591056"/>
            <a:ext cx="475488" cy="47548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2057400"/>
            <a:ext cx="0" cy="274320"/>
          </a:xfrm>
          <a:prstGeom prst="line">
            <a:avLst/>
          </a:prstGeom>
          <a:ln w="25400">
            <a:solidFill>
              <a:srgbClr val="046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397496" y="1591056"/>
            <a:ext cx="475488" cy="47548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58199" y="2057400"/>
            <a:ext cx="0" cy="274320"/>
          </a:xfrm>
          <a:prstGeom prst="line">
            <a:avLst/>
          </a:prstGeom>
          <a:ln w="25400">
            <a:solidFill>
              <a:srgbClr val="046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20455" y="1591056"/>
            <a:ext cx="475488" cy="47548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63040" y="3246120"/>
            <a:ext cx="8778240" cy="0"/>
          </a:xfrm>
          <a:prstGeom prst="line">
            <a:avLst/>
          </a:prstGeom>
          <a:ln w="25400">
            <a:solidFill>
              <a:srgbClr val="046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63040" y="3108960"/>
            <a:ext cx="0" cy="137160"/>
          </a:xfrm>
          <a:prstGeom prst="line">
            <a:avLst/>
          </a:prstGeom>
          <a:ln w="25400">
            <a:solidFill>
              <a:srgbClr val="046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241280" y="3108960"/>
            <a:ext cx="0" cy="137160"/>
          </a:xfrm>
          <a:prstGeom prst="line">
            <a:avLst/>
          </a:prstGeom>
          <a:ln w="25400">
            <a:solidFill>
              <a:srgbClr val="046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312664" y="3026663"/>
            <a:ext cx="438912" cy="438912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5952744" y="3026663"/>
            <a:ext cx="438912" cy="438912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91840"/>
            <a:ext cx="1371600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全段階</a:t>
            </a:r>
          </a:p>
        </p:txBody>
      </p:sp>
      <p:sp>
        <p:nvSpPr>
          <p:cNvPr id="31" name="Oval 30"/>
          <p:cNvSpPr/>
          <p:nvPr/>
        </p:nvSpPr>
        <p:spPr>
          <a:xfrm>
            <a:off x="493776" y="3931920"/>
            <a:ext cx="457200" cy="45720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3794760"/>
            <a:ext cx="4937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段階の飛ばしの禁止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課題と To-Be像の合意前にデータモデルに着手させない</a:t>
            </a:r>
          </a:p>
        </p:txBody>
      </p:sp>
      <p:sp>
        <p:nvSpPr>
          <p:cNvPr id="33" name="Oval 32"/>
          <p:cNvSpPr/>
          <p:nvPr/>
        </p:nvSpPr>
        <p:spPr>
          <a:xfrm>
            <a:off x="493776" y="4754880"/>
            <a:ext cx="457200" cy="45720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4617720"/>
            <a:ext cx="4937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単位と正とする所の確認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二重計上と、正とする値をめぐる対立の防止</a:t>
            </a:r>
          </a:p>
        </p:txBody>
      </p:sp>
      <p:sp>
        <p:nvSpPr>
          <p:cNvPr id="35" name="Oval 34"/>
          <p:cNvSpPr/>
          <p:nvPr/>
        </p:nvSpPr>
        <p:spPr>
          <a:xfrm>
            <a:off x="493776" y="5577840"/>
            <a:ext cx="457200" cy="45720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5440680"/>
            <a:ext cx="4937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判定・閾値・色の人による決定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AI の仮置きの値をそのまま採用しない</a:t>
            </a:r>
          </a:p>
        </p:txBody>
      </p:sp>
      <p:sp>
        <p:nvSpPr>
          <p:cNvPr id="37" name="Oval 36"/>
          <p:cNvSpPr/>
          <p:nvPr/>
        </p:nvSpPr>
        <p:spPr>
          <a:xfrm>
            <a:off x="6208775" y="3931920"/>
            <a:ext cx="457200" cy="45720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794760"/>
            <a:ext cx="4937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確認結果の原文での報告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NG の放置と「OK」への言い換えの確認</a:t>
            </a:r>
          </a:p>
        </p:txBody>
      </p:sp>
      <p:sp>
        <p:nvSpPr>
          <p:cNvPr id="39" name="Oval 38"/>
          <p:cNvSpPr/>
          <p:nvPr/>
        </p:nvSpPr>
        <p:spPr>
          <a:xfrm>
            <a:off x="6208775" y="4754880"/>
            <a:ext cx="457200" cy="45720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4617720"/>
            <a:ext cx="4937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定義書を正とする変更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アプリだけで辻褄を合わせた変更の差し戻し</a:t>
            </a:r>
          </a:p>
        </p:txBody>
      </p:sp>
      <p:sp>
        <p:nvSpPr>
          <p:cNvPr id="41" name="Oval 40"/>
          <p:cNvSpPr/>
          <p:nvPr/>
        </p:nvSpPr>
        <p:spPr>
          <a:xfrm>
            <a:off x="6208775" y="5577840"/>
            <a:ext cx="457200" cy="457200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lang="en-US" altLang="ja-JP" noProof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5440680"/>
            <a:ext cx="4937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指摘のルール化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指摘と理由を rules/ に記録させ、索引を確認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13｜作業の回し方とチームでの運用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依頼から確認・レビュー・ルール化までを1回の作業の単位として回し、指摘をルールに蓄積してひな型ごと育てる運用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3063239"/>
            <a:ext cx="1828800" cy="1828800"/>
          </a:xfrm>
          <a:prstGeom prst="ellipse">
            <a:avLst/>
          </a:prstGeom>
          <a:solidFill>
            <a:srgbClr val="F6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3611879"/>
            <a:ext cx="1828800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800" b="1" lang="ja-JP" altLang="en-US" dirty="0">
                <a:solidFill>
                  <a:srgbClr val="046A38"/>
                </a:solidFill>
              </a:rPr>
              <a:t>1回の</a:t>
            </a:r>
          </a:p>
          <a:p>
            <a:pPr algn="ctr"/>
            <a:r>
              <a:rPr sz="1800" b="1" lang="ja-JP" altLang="en-US" dirty="0">
                <a:solidFill>
                  <a:srgbClr val="046A38"/>
                </a:solidFill>
              </a:rPr>
              <a:t>作業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60304" y="2456867"/>
            <a:ext cx="474202" cy="504085"/>
          </a:xfrm>
          <a:prstGeom prst="line">
            <a:avLst/>
          </a:prstGeom>
          <a:ln w="28575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48691" y="3515868"/>
            <a:ext cx="0" cy="923544"/>
          </a:xfrm>
          <a:prstGeom prst="line">
            <a:avLst/>
          </a:prstGeom>
          <a:ln w="28575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860304" y="4994327"/>
            <a:ext cx="474202" cy="504085"/>
          </a:xfrm>
          <a:prstGeom prst="line">
            <a:avLst/>
          </a:prstGeom>
          <a:ln w="28575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157733" y="4994327"/>
            <a:ext cx="474202" cy="504085"/>
          </a:xfrm>
          <a:prstGeom prst="line">
            <a:avLst/>
          </a:prstGeom>
          <a:ln w="28575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43548" y="3515867"/>
            <a:ext cx="0" cy="923545"/>
          </a:xfrm>
          <a:prstGeom prst="line">
            <a:avLst/>
          </a:prstGeom>
          <a:ln w="28575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57733" y="2456867"/>
            <a:ext cx="474202" cy="504085"/>
          </a:xfrm>
          <a:prstGeom prst="line">
            <a:avLst/>
          </a:prstGeom>
          <a:ln w="28575">
            <a:solidFill>
              <a:srgbClr val="86BC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50008" y="2011679"/>
            <a:ext cx="1792224" cy="548640"/>
          </a:xfrm>
          <a:prstGeom prst="roundRect">
            <a:avLst>
              <a:gd name="adj" fmla="val 50000"/>
            </a:avLst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0" tIns="36576" bIns="0" wrap="square"/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作業の依頼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52579" y="2857500"/>
            <a:ext cx="1792224" cy="548640"/>
          </a:xfrm>
          <a:prstGeom prst="roundRect">
            <a:avLst>
              <a:gd name="adj" fmla="val 50000"/>
            </a:avLst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0" tIns="36576" bIns="0" wrap="square"/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ルールの読込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52579" y="4549140"/>
            <a:ext cx="1792224" cy="548640"/>
          </a:xfrm>
          <a:prstGeom prst="roundRect">
            <a:avLst>
              <a:gd name="adj" fmla="val 50000"/>
            </a:avLst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0" tIns="36576" bIns="0" wrap="square"/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AI による作成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0008" y="5394959"/>
            <a:ext cx="1792224" cy="548640"/>
          </a:xfrm>
          <a:prstGeom prst="roundRect">
            <a:avLst>
              <a:gd name="adj" fmla="val 50000"/>
            </a:avLst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0" tIns="36576" bIns="0" wrap="square"/>
          <a:lstStyle/>
          <a:p>
            <a:pPr algn="ctr"/>
            <a:r>
              <a:rPr sz="1400" b="0" lang="en-US" altLang="ja-JP" noProof="1" dirty="0">
                <a:solidFill>
                  <a:srgbClr val="222222"/>
                </a:solidFill>
              </a:rPr>
              <a:t>check_all.py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436" y="4549140"/>
            <a:ext cx="1792224" cy="548640"/>
          </a:xfrm>
          <a:prstGeom prst="roundRect">
            <a:avLst>
              <a:gd name="adj" fmla="val 50000"/>
            </a:avLst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0" tIns="36576" bIns="0" wrap="square"/>
          <a:lstStyle/>
          <a:p>
            <a:pPr algn="ctr"/>
            <a:r>
              <a:rPr sz="1400" b="0" lang="ja-JP" altLang="en-US" dirty="0">
                <a:solidFill>
                  <a:srgbClr val="222222"/>
                </a:solidFill>
              </a:rPr>
              <a:t>結果の報告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436" y="2857499"/>
            <a:ext cx="1792224" cy="548640"/>
          </a:xfrm>
          <a:prstGeom prst="roundRect">
            <a:avLst>
              <a:gd name="adj" fmla="val 50000"/>
            </a:avLst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0" tIns="36576" bIns="0" wrap="square"/>
          <a:lstStyle/>
          <a:p>
            <a:pPr algn="ctr"/>
            <a:r>
              <a:rPr sz="1400" b="1" lang="ja-JP" altLang="en-US" dirty="0">
                <a:solidFill>
                  <a:srgbClr val="FFFFFF"/>
                </a:solidFill>
              </a:rPr>
              <a:t>レビュー・ルール化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691640"/>
            <a:ext cx="5120640" cy="4114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800" b="1" lang="ja-JP" altLang="en-US" dirty="0">
                <a:solidFill>
                  <a:srgbClr val="046A38"/>
                </a:solidFill>
              </a:rPr>
              <a:t>チームでの運用</a:t>
            </a:r>
          </a:p>
        </p:txBody>
      </p:sp>
      <p:sp>
        <p:nvSpPr>
          <p:cNvPr id="21" name="Oval 20"/>
          <p:cNvSpPr/>
          <p:nvPr/>
        </p:nvSpPr>
        <p:spPr>
          <a:xfrm>
            <a:off x="6560820" y="2354579"/>
            <a:ext cx="868680" cy="86868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6896404" y="2558491"/>
            <a:ext cx="0" cy="460857"/>
          </a:xfrm>
          <a:prstGeom prst="line">
            <a:avLst/>
          </a:prstGeom>
          <a:ln w="38100">
            <a:solidFill>
              <a:srgbClr val="26890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93915" y="2558491"/>
            <a:ext cx="0" cy="460857"/>
          </a:xfrm>
          <a:prstGeom prst="line">
            <a:avLst/>
          </a:prstGeom>
          <a:ln w="38100">
            <a:solidFill>
              <a:srgbClr val="26890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35240" y="2331720"/>
            <a:ext cx="4069080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作業の前の Pull、直後の Push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同じファイルの同時編集の衝突を防止</a:t>
            </a:r>
          </a:p>
        </p:txBody>
      </p:sp>
      <p:sp>
        <p:nvSpPr>
          <p:cNvPr id="25" name="Oval 24"/>
          <p:cNvSpPr/>
          <p:nvPr/>
        </p:nvSpPr>
        <p:spPr>
          <a:xfrm>
            <a:off x="6560820" y="3680460"/>
            <a:ext cx="868680" cy="86868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40042" y="3909060"/>
            <a:ext cx="510235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40042" y="3909060"/>
            <a:ext cx="510235" cy="98755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910120" y="4007815"/>
            <a:ext cx="0" cy="312725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80199" y="4007815"/>
            <a:ext cx="0" cy="312725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40042" y="4164177"/>
            <a:ext cx="510235" cy="0"/>
          </a:xfrm>
          <a:prstGeom prst="line">
            <a:avLst/>
          </a:prstGeom>
          <a:ln w="12700">
            <a:solidFill>
              <a:srgbClr val="2689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35240" y="3657600"/>
            <a:ext cx="4069080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Excel・pptx の同時編集の回避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変更を混ぜられないため、担当者を決めてから編集</a:t>
            </a:r>
          </a:p>
        </p:txBody>
      </p:sp>
      <p:sp>
        <p:nvSpPr>
          <p:cNvPr id="32" name="Oval 31"/>
          <p:cNvSpPr/>
          <p:nvPr/>
        </p:nvSpPr>
        <p:spPr>
          <a:xfrm>
            <a:off x="6560820" y="5006340"/>
            <a:ext cx="868680" cy="868680"/>
          </a:xfrm>
          <a:prstGeom prst="ellipse">
            <a:avLst/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olded Corner 32"/>
          <p:cNvSpPr/>
          <p:nvPr/>
        </p:nvSpPr>
        <p:spPr>
          <a:xfrm>
            <a:off x="6797649" y="5193792"/>
            <a:ext cx="395020" cy="493776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268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71716" y="5317236"/>
            <a:ext cx="246888" cy="32918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1716" y="5424220"/>
            <a:ext cx="246888" cy="32918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71716" y="5531205"/>
            <a:ext cx="246888" cy="32918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4983479"/>
            <a:ext cx="4069080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ひな型への還元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汎用的な指摘と道具の改良をひな型に反映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 altLang="en-US" dirty="0"/>
              <a:t>14｜指摘がルールになった実例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lang="ja-JP" altLang="en-US" dirty="0">
                <a:solidFill>
                  <a:srgbClr val="222222"/>
                </a:solidFill>
              </a:rPr>
              <a:t>ユーザーの指摘を理由つきで rules/ に記録し、次の作業からはどの AI も同じ指摘を受けずに済む、指摘がルールになった実例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0"/>
            <a:ext cx="640080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ja-JP" altLang="en-US" dirty="0">
                <a:solidFill>
                  <a:srgbClr val="666666"/>
                </a:solidFill>
              </a:rPr>
              <a:t>ひな型リポジトリ｜立上げと進め方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0"/>
            <a:ext cx="365760" cy="173736"/>
          </a:xfrm>
          <a:prstGeom prst="rect">
            <a:avLst/>
          </a:prstGeom>
          <a:noFill/>
        </p:spPr>
        <p:txBody>
          <a:bodyPr wrap="square" lIns="54864" rIns="54864" tIns="36576" bIns="0">
            <a:spAutoFit/>
          </a:bodyPr>
          <a:lstStyle/>
          <a:p>
            <a:pPr algn="l"/>
            <a:r>
              <a:rPr sz="900" b="0" lang="en-US" altLang="ja-JP" noProof="1" dirty="0">
                <a:solidFill>
                  <a:srgbClr val="666666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645920"/>
            <a:ext cx="274320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600" b="1" lang="ja-JP" altLang="en-US" dirty="0">
                <a:solidFill>
                  <a:srgbClr val="046A38"/>
                </a:solidFill>
              </a:rPr>
              <a:t>ユーザーの指摘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475488" y="2057400"/>
            <a:ext cx="2638044" cy="1097280"/>
          </a:xfrm>
          <a:prstGeom prst="wedgeRoundRectCallout">
            <a:avLst>
              <a:gd name="adj1" fmla="val 0"/>
              <a:gd name="adj2" fmla="val 75000"/>
              <a:gd name="adj3" fmla="val 16667"/>
            </a:avLst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37160" wrap="square"/>
          <a:lstStyle/>
          <a:p>
            <a:pPr algn="ctr"/>
            <a:r>
              <a:rPr sz="1500" b="1" lang="ja-JP" altLang="en-US" dirty="0">
                <a:solidFill>
                  <a:srgbClr val="046A38"/>
                </a:solidFill>
              </a:rPr>
              <a:t>「K1とかK2とかってなんですっけ、意味がないなら消して」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94510" y="3474720"/>
            <a:ext cx="0" cy="411480"/>
          </a:xfrm>
          <a:prstGeom prst="line">
            <a:avLst/>
          </a:prstGeom>
          <a:ln w="31750">
            <a:solidFill>
              <a:srgbClr val="046A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/>
          <p:cNvSpPr/>
          <p:nvPr/>
        </p:nvSpPr>
        <p:spPr>
          <a:xfrm>
            <a:off x="3342132" y="2057400"/>
            <a:ext cx="2638044" cy="1097280"/>
          </a:xfrm>
          <a:prstGeom prst="wedgeRoundRectCallout">
            <a:avLst>
              <a:gd name="adj1" fmla="val 0"/>
              <a:gd name="adj2" fmla="val 75000"/>
              <a:gd name="adj3" fmla="val 16667"/>
            </a:avLst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37160" wrap="square"/>
          <a:lstStyle/>
          <a:p>
            <a:pPr algn="ctr"/>
            <a:r>
              <a:rPr sz="1500" b="1" lang="ja-JP" altLang="en-US" dirty="0">
                <a:solidFill>
                  <a:srgbClr val="046A38"/>
                </a:solidFill>
              </a:rPr>
              <a:t>「全体的にフォントサイズが小さくなってきている」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1154" y="3474720"/>
            <a:ext cx="0" cy="411480"/>
          </a:xfrm>
          <a:prstGeom prst="line">
            <a:avLst/>
          </a:prstGeom>
          <a:ln w="31750">
            <a:solidFill>
              <a:srgbClr val="046A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>
          <a:xfrm>
            <a:off x="6208776" y="2057400"/>
            <a:ext cx="2638044" cy="1097280"/>
          </a:xfrm>
          <a:prstGeom prst="wedgeRoundRectCallout">
            <a:avLst>
              <a:gd name="adj1" fmla="val 0"/>
              <a:gd name="adj2" fmla="val 75000"/>
              <a:gd name="adj3" fmla="val 16667"/>
            </a:avLst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37160" wrap="square"/>
          <a:lstStyle/>
          <a:p>
            <a:pPr algn="ctr"/>
            <a:r>
              <a:rPr sz="1500" b="1" lang="ja-JP" altLang="en-US" dirty="0">
                <a:solidFill>
                  <a:srgbClr val="046A38"/>
                </a:solidFill>
              </a:rPr>
              <a:t>「いかにもAI感が出る」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27798" y="3474720"/>
            <a:ext cx="0" cy="411480"/>
          </a:xfrm>
          <a:prstGeom prst="line">
            <a:avLst/>
          </a:prstGeom>
          <a:ln w="31750">
            <a:solidFill>
              <a:srgbClr val="046A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ular Callout 12"/>
          <p:cNvSpPr/>
          <p:nvPr/>
        </p:nvSpPr>
        <p:spPr>
          <a:xfrm>
            <a:off x="9075420" y="2057400"/>
            <a:ext cx="2638044" cy="1097280"/>
          </a:xfrm>
          <a:prstGeom prst="wedgeRoundRectCallout">
            <a:avLst>
              <a:gd name="adj1" fmla="val 0"/>
              <a:gd name="adj2" fmla="val 75000"/>
              <a:gd name="adj3" fmla="val 16667"/>
            </a:avLst>
          </a:prstGeom>
          <a:solidFill>
            <a:srgbClr val="EC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37160" wrap="square"/>
          <a:lstStyle/>
          <a:p>
            <a:pPr algn="ctr"/>
            <a:r>
              <a:rPr sz="1500" b="1" lang="ja-JP" altLang="en-US" dirty="0">
                <a:solidFill>
                  <a:srgbClr val="046A38"/>
                </a:solidFill>
              </a:rPr>
              <a:t>「どこに注目すべきなのか、ぱっと視覚的に理解できるか」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94442" y="3474720"/>
            <a:ext cx="0" cy="411480"/>
          </a:xfrm>
          <a:prstGeom prst="line">
            <a:avLst/>
          </a:prstGeom>
          <a:ln w="31750">
            <a:solidFill>
              <a:srgbClr val="046A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5488" y="3931920"/>
            <a:ext cx="11237976" cy="160020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977639"/>
            <a:ext cx="365760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algn="l"/>
            <a:r>
              <a:rPr sz="1500" b="1" lang="ja-JP" altLang="en-US" dirty="0">
                <a:solidFill>
                  <a:srgbClr val="FFFFFF"/>
                </a:solidFill>
              </a:rPr>
              <a:t>rules/ に記録（理由つき）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4389120"/>
            <a:ext cx="2418588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 tIns="91440" bIns="36576" wrap="square"/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説明資料の文章 9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内部の番号・対応づけの注記を出さない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4389120"/>
            <a:ext cx="2418588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 tIns="91440" bIns="36576" wrap="square"/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pptx の体裁 2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本文は14pt を基本にし、収まらなければ折り返す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8504" y="4389120"/>
            <a:ext cx="2418588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 tIns="91440" bIns="36576" wrap="square"/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説明資料の文章 7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ページ下部の注記・補足の一文を入れない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5148" y="4389120"/>
            <a:ext cx="2418588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36576" tIns="91440" bIns="36576" wrap="square"/>
          <a:lstStyle/>
          <a:p>
            <a:pPr algn="l"/>
            <a:r>
              <a:rPr sz="1400" b="1" lang="ja-JP" altLang="en-US" dirty="0">
                <a:solidFill>
                  <a:srgbClr val="046A38"/>
                </a:solidFill>
              </a:rPr>
              <a:t>pptx の体裁 9</a:t>
            </a:r>
          </a:p>
          <a:p>
            <a:pPr algn="l"/>
            <a:r>
              <a:rPr sz="1400" b="0" lang="ja-JP" altLang="en-US" dirty="0">
                <a:solidFill>
                  <a:srgbClr val="222222"/>
                </a:solidFill>
              </a:rPr>
              <a:t>ページごとに図の形を変え、注目点を1つ作る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" y="5765292"/>
            <a:ext cx="27432" cy="9601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8962" y="5710427"/>
            <a:ext cx="96012" cy="9601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854446"/>
            <a:ext cx="493776" cy="411479"/>
          </a:xfrm>
          <a:prstGeom prst="roundRect">
            <a:avLst>
              <a:gd name="adj" fmla="val 25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lang="en-US" altLang="ja-JP" noProof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50492" y="5765292"/>
            <a:ext cx="27432" cy="9601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16201" y="5710427"/>
            <a:ext cx="96012" cy="9601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17319" y="5854446"/>
            <a:ext cx="493776" cy="411479"/>
          </a:xfrm>
          <a:prstGeom prst="roundRect">
            <a:avLst>
              <a:gd name="adj" fmla="val 25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lang="en-US" altLang="ja-JP" noProof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7732" y="5765292"/>
            <a:ext cx="27432" cy="96012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93441" y="5710427"/>
            <a:ext cx="96012" cy="9601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94560" y="5854446"/>
            <a:ext cx="493776" cy="411479"/>
          </a:xfrm>
          <a:prstGeom prst="roundRect">
            <a:avLst>
              <a:gd name="adj" fmla="val 25000"/>
            </a:avLst>
          </a:prstGeom>
          <a:solidFill>
            <a:srgbClr val="268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 lang="en-US" altLang="ja-JP" noProof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0088" y="5760720"/>
            <a:ext cx="8723376" cy="6400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2000" b="1" lang="ja-JP" altLang="en-US" dirty="0">
                <a:solidFill>
                  <a:srgbClr val="046A38"/>
                </a:solidFill>
              </a:rPr>
              <a:t>次の作業から、どの AI も同じルールで作成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STYLE_ID" val="076a8867-8b72-4914-890a-d2f9a5d03d99"/>
  <p:tag name="THINKCELLPRESENTATIONDONOTDELETE" val="&lt;?xml version=&quot;1.0&quot; encoding=&quot;UTF-16&quot; standalone=&quot;yes&quot;?&gt;&lt;root reqver=&quot;28224&quot;&gt;&lt;version val=&quot;3579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 Template_16:9_J_202604">
  <a:themeElements>
    <a:clrScheme name="New　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Deloitte　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5">
      <a:srgbClr val="009A44"/>
    </a:custClr>
    <a:custClr name="Green 4">
      <a:srgbClr val="43B02A"/>
    </a:custClr>
    <a:custClr name="Green 2">
      <a:srgbClr val="C4D600"/>
    </a:custClr>
    <a:custClr name="Green 1">
      <a:srgbClr val="E3E48D"/>
    </a:custClr>
    <a:custClr name="Teal 8">
      <a:srgbClr val="0D8390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8">
      <a:srgbClr val="007CB0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Bright Teal">
      <a:srgbClr val="3EFAC5"/>
    </a:custClr>
    <a:custClr name="Bright Blue">
      <a:srgbClr val="33F0FF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2" id="{743817EB-ABB3-4EB0-A68F-BC1455F78289}" vid="{48A90ABA-3062-4210-8343-EE76FF332DC4}"/>
    </a:ext>
  </a:extLst>
</a:theme>
</file>

<file path=ppt/theme/theme2.xml><?xml version="1.0" encoding="utf-8"?>
<a:theme xmlns:a="http://schemas.openxmlformats.org/drawingml/2006/main" name="DT Template_16:9_J_202604_基本版②">
  <a:themeElements>
    <a:clrScheme name="New　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Deloitte　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5">
      <a:srgbClr val="009A44"/>
    </a:custClr>
    <a:custClr name="Green 4">
      <a:srgbClr val="43B02A"/>
    </a:custClr>
    <a:custClr name="Green 2">
      <a:srgbClr val="C4D600"/>
    </a:custClr>
    <a:custClr name="Green 1">
      <a:srgbClr val="E3E48D"/>
    </a:custClr>
    <a:custClr name="Teal 8">
      <a:srgbClr val="0D8390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8">
      <a:srgbClr val="007CB0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Bright Teal">
      <a:srgbClr val="3EFAC5"/>
    </a:custClr>
    <a:custClr name="Bright Blue">
      <a:srgbClr val="33F0FF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2" id="{743817EB-ABB3-4EB0-A68F-BC1455F78289}" vid="{55C019B1-D786-4364-A6F3-BC3D8A3C05D1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a42eef-46ed-4533-a2e7-3cf679d1ecbb">
      <Terms xmlns="http://schemas.microsoft.com/office/infopath/2007/PartnerControls"/>
    </lcf76f155ced4ddcb4097134ff3c332f>
    <TaxCatchAll xmlns="4c97e730-5974-43da-bd72-e9b174ee7847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72AFA28603B4E9817668D52B62597" ma:contentTypeVersion="11" ma:contentTypeDescription="Create a new document." ma:contentTypeScope="" ma:versionID="601be5abf403ddbae612b8a7718bbe3b">
  <xsd:schema xmlns:xsd="http://www.w3.org/2001/XMLSchema" xmlns:xs="http://www.w3.org/2001/XMLSchema" xmlns:p="http://schemas.microsoft.com/office/2006/metadata/properties" xmlns:ns2="b9a42eef-46ed-4533-a2e7-3cf679d1ecbb" xmlns:ns3="4c97e730-5974-43da-bd72-e9b174ee7847" targetNamespace="http://schemas.microsoft.com/office/2006/metadata/properties" ma:root="true" ma:fieldsID="e1d7ea0a787b07147bb5d4b2d9ce9e71" ns2:_="" ns3:_="">
    <xsd:import namespace="b9a42eef-46ed-4533-a2e7-3cf679d1ecbb"/>
    <xsd:import namespace="4c97e730-5974-43da-bd72-e9b174ee78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42eef-46ed-4533-a2e7-3cf679d1ec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97e730-5974-43da-bd72-e9b174ee78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099eab-bcff-45eb-8885-897cff929d4d}" ma:internalName="TaxCatchAll" ma:showField="CatchAllData" ma:web="4c97e730-5974-43da-bd72-e9b174ee78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ABDCF7-E177-4D36-B608-8F74725161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F75EE8-E51D-4422-BE39-CF7C03367777}">
  <ds:schemaRefs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4c97e730-5974-43da-bd72-e9b174ee7847"/>
    <ds:schemaRef ds:uri="http://purl.org/dc/dcmitype/"/>
    <ds:schemaRef ds:uri="http://schemas.microsoft.com/office/2006/documentManagement/types"/>
    <ds:schemaRef ds:uri="b9a42eef-46ed-4533-a2e7-3cf679d1ecbb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C334B78-8280-464B-A63D-030402B32E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42eef-46ed-4533-a2e7-3cf679d1ecbb"/>
    <ds:schemaRef ds:uri="4c97e730-5974-43da-bd72-e9b174ee78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DT Template_16_9_J</Template>
  <TotalTime>395</TotalTime>
  <Words>1709</Words>
  <Application>Microsoft Office PowerPoint</Application>
  <PresentationFormat>ワイド画面</PresentationFormat>
  <Paragraphs>286</Paragraphs>
  <Slides>6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6" baseType="lpstr">
      <vt:lpstr>Yu Gothic UI</vt:lpstr>
      <vt:lpstr>Yu Gothic</vt:lpstr>
      <vt:lpstr>Aptos</vt:lpstr>
      <vt:lpstr>Arial</vt:lpstr>
      <vt:lpstr>Verdana</vt:lpstr>
      <vt:lpstr>Wingdings</vt:lpstr>
      <vt:lpstr>Wingdings 2</vt:lpstr>
      <vt:lpstr>DT Template_16:9_J_202604</vt:lpstr>
      <vt:lpstr>DT Template_16:9_J_202604_基本版②</vt:lpstr>
      <vt:lpstr>think-cellスライド</vt:lpstr>
      <vt:lpstr>PgMOは、グループ全体のIT投資・変革施策を統制し、戦略との整合・投資最適化・品質向上を実現する組織である</vt:lpstr>
      <vt:lpstr>PgMOの役割・責任より大きく5つの主要機能を定義し、下記の機能をベースで今後の体制を検討する</vt:lpstr>
      <vt:lpstr>FY27はスモールスタートで最小限の体制とし、5つの主要機能を段階的に強化を行う方針で検討中</vt:lpstr>
      <vt:lpstr>IT相談・協議会にて、案件特性に応じたプロジェクトの判定区分を決定し、区分に応じて適用プロセスを切り替える</vt:lpstr>
      <vt:lpstr>全体のプロセスとしては、IT相談・協議会でプロジェクト区分を判定後、Alignment、Validation、GATEのプロセスにて確認を行う</vt:lpstr>
      <vt:lpstr>Project Charter作成前に案件の基本方針をすり合わせ、後続工程の品質向上と手戻り防止につなげる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Kuriyama, Yoshiaki</dc:creator>
  <cp:lastModifiedBy>Okada, Yusuke</cp:lastModifiedBy>
  <cp:revision>9</cp:revision>
  <dcterms:created xsi:type="dcterms:W3CDTF">2026-06-01T06:43:51Z</dcterms:created>
  <dcterms:modified xsi:type="dcterms:W3CDTF">2026-08-27T21:39:24Z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0x0101004AB72AFA28603B4E9817668D52B62597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2021-11-30T06:12:18Z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177f38b9-1e8a-4270-81d8-98c657c22e6c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ediaServiceImageTags">
    <vt:lpwstr/>
  </property>
</Properties>
</file>